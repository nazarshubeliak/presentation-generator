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C1B"/>
    <a:srgbClr val="FFFFFF"/>
    <a:srgbClr val="F2F0EE"/>
    <a:srgbClr val="D2DA2A"/>
    <a:srgbClr val="394F61"/>
    <a:srgbClr val="EFB24F"/>
    <a:srgbClr val="000000"/>
    <a:srgbClr val="D8D8D8"/>
    <a:srgbClr val="FF0066"/>
    <a:srgbClr val="C59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009A7-6B9F-4D93-88A2-45E8B8D87E2F}" type="datetimeFigureOut">
              <a:rPr lang="ru-UA" smtClean="0"/>
              <a:t>11.09.2026</a:t>
            </a:fld>
            <a:endParaRPr lang="ru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6CA4E-C226-45D9-9F42-524BAAA9C19D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376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_THEME_WORLD_PHOTO">
            <a:extLst>
              <a:ext uri="{FF2B5EF4-FFF2-40B4-BE49-F238E27FC236}">
                <a16:creationId xmlns:a16="http://schemas.microsoft.com/office/drawing/2014/main" id="{F63D0116-0F64-EE25-A2E4-613EE5B0DC4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ru-UA" dirty="0"/>
          </a:p>
        </p:txBody>
      </p:sp>
      <p:sp>
        <p:nvSpPr>
          <p:cNvPr id="13" name="Прямокутник: округлені кути 12">
            <a:extLst>
              <a:ext uri="{FF2B5EF4-FFF2-40B4-BE49-F238E27FC236}">
                <a16:creationId xmlns:a16="http://schemas.microsoft.com/office/drawing/2014/main" id="{E9323473-A445-EBAE-C06D-C9EE7FAC4C2B}"/>
              </a:ext>
            </a:extLst>
          </p:cNvPr>
          <p:cNvSpPr/>
          <p:nvPr userDrawn="1"/>
        </p:nvSpPr>
        <p:spPr>
          <a:xfrm>
            <a:off x="262800" y="317044"/>
            <a:ext cx="7707600" cy="1602000"/>
          </a:xfrm>
          <a:prstGeom prst="round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D306CD0-ACF3-4DED-AB67-FE9080025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90" y="1255290"/>
            <a:ext cx="6291361" cy="405385"/>
          </a:xfrm>
          <a:prstGeom prst="rect">
            <a:avLst/>
          </a:prstGeom>
        </p:spPr>
      </p:pic>
      <p:sp>
        <p:nvSpPr>
          <p:cNvPr id="4" name="Прямокутник: округлені кути 3">
            <a:extLst>
              <a:ext uri="{FF2B5EF4-FFF2-40B4-BE49-F238E27FC236}">
                <a16:creationId xmlns:a16="http://schemas.microsoft.com/office/drawing/2014/main" id="{21EA4C44-B62C-332B-F692-05F83A7E435A}"/>
              </a:ext>
            </a:extLst>
          </p:cNvPr>
          <p:cNvSpPr/>
          <p:nvPr userDrawn="1"/>
        </p:nvSpPr>
        <p:spPr>
          <a:xfrm>
            <a:off x="7268812" y="6053567"/>
            <a:ext cx="3322247" cy="487389"/>
          </a:xfrm>
          <a:prstGeom prst="round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5" name="TXT_TITLE_SUBLINE">
            <a:extLst>
              <a:ext uri="{FF2B5EF4-FFF2-40B4-BE49-F238E27FC236}">
                <a16:creationId xmlns:a16="http://schemas.microsoft.com/office/drawing/2014/main" id="{F20B1954-AB24-881B-8BF0-0308045A45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1200" y="1555200"/>
            <a:ext cx="7030800" cy="234000"/>
          </a:xfrm>
        </p:spPr>
        <p:txBody>
          <a:bodyPr/>
          <a:lstStyle>
            <a:lvl1pPr>
              <a:buNone/>
              <a:defRPr sz="1400" baseline="0">
                <a:solidFill>
                  <a:srgbClr val="FFFFFF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K</a:t>
            </a:r>
            <a:r>
              <a:rPr lang="de-DE" dirty="0"/>
              <a:t>I- </a:t>
            </a:r>
            <a:r>
              <a:rPr lang="en-US" dirty="0"/>
              <a:t>&amp; AR-</a:t>
            </a:r>
            <a:r>
              <a:rPr lang="en-US" dirty="0" err="1"/>
              <a:t>Erlebnisinstallationen</a:t>
            </a:r>
            <a:r>
              <a:rPr lang="en-US" dirty="0"/>
              <a:t> f</a:t>
            </a:r>
            <a:r>
              <a:rPr lang="de-DE" dirty="0" err="1"/>
              <a:t>ür</a:t>
            </a:r>
            <a:r>
              <a:rPr lang="de-DE" dirty="0"/>
              <a:t> den Magdeburger Weihnachtsmarkt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520A6-5849-558C-2F65-299E59F7DF00}"/>
              </a:ext>
            </a:extLst>
          </p:cNvPr>
          <p:cNvSpPr txBox="1"/>
          <p:nvPr userDrawn="1"/>
        </p:nvSpPr>
        <p:spPr>
          <a:xfrm>
            <a:off x="599890" y="467396"/>
            <a:ext cx="7030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i="0" baseline="0" dirty="0">
                <a:solidFill>
                  <a:srgbClr val="F2F0EE"/>
                </a:solidFill>
                <a:latin typeface="+mj-lt"/>
              </a:rPr>
              <a:t>Wir machen Ihre Besucher</a:t>
            </a:r>
            <a:endParaRPr lang="uk-UA" sz="2800" b="1" i="0" baseline="0" dirty="0">
              <a:solidFill>
                <a:srgbClr val="F2F0EE"/>
              </a:solidFill>
              <a:latin typeface="+mj-lt"/>
            </a:endParaRPr>
          </a:p>
          <a:p>
            <a:r>
              <a:rPr lang="de-DE" sz="2800" b="1" i="0" baseline="0" dirty="0">
                <a:solidFill>
                  <a:srgbClr val="F2F0EE"/>
                </a:solidFill>
                <a:latin typeface="+mj-lt"/>
              </a:rPr>
              <a:t>zu einem Teil Ihrer Geschichte</a:t>
            </a:r>
            <a:endParaRPr lang="ru-UA" sz="2800" b="1" i="0" baseline="0" dirty="0">
              <a:solidFill>
                <a:srgbClr val="F2F0EE"/>
              </a:solidFill>
              <a:latin typeface="+mj-lt"/>
            </a:endParaRPr>
          </a:p>
          <a:p>
            <a:endParaRPr lang="ru-UA" sz="2800" baseline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E5FF37-B215-9C93-9941-1134CD11D1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83645" y="101605"/>
            <a:ext cx="2475191" cy="731583"/>
          </a:xfrm>
          <a:prstGeom prst="rect">
            <a:avLst/>
          </a:prstGeom>
        </p:spPr>
      </p:pic>
      <p:sp>
        <p:nvSpPr>
          <p:cNvPr id="48" name="TXT_THEME_WORLD_NAME">
            <a:extLst>
              <a:ext uri="{FF2B5EF4-FFF2-40B4-BE49-F238E27FC236}">
                <a16:creationId xmlns:a16="http://schemas.microsoft.com/office/drawing/2014/main" id="{90CC0254-2BA0-41FA-A51E-758A1DA856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68812" y="6138699"/>
            <a:ext cx="3322246" cy="317123"/>
          </a:xfrm>
          <a:noFill/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Kaiser-Otto-Pfalz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9625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2_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G_THEME_WORLD_PHOTO">
            <a:extLst>
              <a:ext uri="{FF2B5EF4-FFF2-40B4-BE49-F238E27FC236}">
                <a16:creationId xmlns:a16="http://schemas.microsoft.com/office/drawing/2014/main" id="{5D13BE0F-28BA-C7B7-F73A-660A03B579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5180" y="-957934"/>
            <a:ext cx="9101734" cy="8932892"/>
          </a:xfrm>
          <a:prstGeom prst="ellipse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10" name="Headline">
            <a:extLst>
              <a:ext uri="{FF2B5EF4-FFF2-40B4-BE49-F238E27FC236}">
                <a16:creationId xmlns:a16="http://schemas.microsoft.com/office/drawing/2014/main" id="{2B9D6B00-9D9F-D95A-2651-0EB013E92262}"/>
              </a:ext>
            </a:extLst>
          </p:cNvPr>
          <p:cNvSpPr txBox="1"/>
          <p:nvPr userDrawn="1"/>
        </p:nvSpPr>
        <p:spPr>
          <a:xfrm>
            <a:off x="418284" y="418011"/>
            <a:ext cx="47604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baseline="0" dirty="0">
                <a:solidFill>
                  <a:srgbClr val="231F20"/>
                </a:solidFill>
                <a:latin typeface="+mj-lt"/>
              </a:rPr>
              <a:t>Ihr Erlebnispartner —</a:t>
            </a:r>
            <a:endParaRPr lang="uk-UA" sz="2800" b="1" baseline="0" dirty="0">
              <a:solidFill>
                <a:srgbClr val="231F20"/>
              </a:solidFill>
              <a:latin typeface="+mj-lt"/>
            </a:endParaRPr>
          </a:p>
          <a:p>
            <a:r>
              <a:rPr lang="de-DE" sz="2800" b="1" baseline="0" dirty="0">
                <a:solidFill>
                  <a:srgbClr val="231F20"/>
                </a:solidFill>
                <a:latin typeface="+mj-lt"/>
              </a:rPr>
              <a:t>von Konzept bis</a:t>
            </a:r>
            <a:r>
              <a:rPr lang="uk-UA" sz="2800" b="1" baseline="0" dirty="0">
                <a:solidFill>
                  <a:srgbClr val="231F20"/>
                </a:solidFill>
                <a:latin typeface="+mj-lt"/>
              </a:rPr>
              <a:t> </a:t>
            </a:r>
            <a:r>
              <a:rPr lang="de-DE" sz="2800" b="1" baseline="0" dirty="0">
                <a:solidFill>
                  <a:srgbClr val="231F20"/>
                </a:solidFill>
                <a:latin typeface="+mj-lt"/>
              </a:rPr>
              <a:t>Betreuung </a:t>
            </a:r>
            <a:endParaRPr lang="uk-UA" sz="2800" b="1" baseline="0" dirty="0">
              <a:solidFill>
                <a:srgbClr val="231F20"/>
              </a:solidFill>
              <a:latin typeface="+mj-lt"/>
            </a:endParaRPr>
          </a:p>
          <a:p>
            <a:r>
              <a:rPr lang="de-DE" sz="2800" b="1" baseline="0" dirty="0">
                <a:solidFill>
                  <a:srgbClr val="231F20"/>
                </a:solidFill>
                <a:latin typeface="+mj-lt"/>
              </a:rPr>
              <a:t>vor Ort.</a:t>
            </a:r>
            <a:endParaRPr lang="ru-UA" sz="2800" b="1" baseline="0" dirty="0">
              <a:solidFill>
                <a:srgbClr val="231F20"/>
              </a:solidFill>
              <a:latin typeface="+mj-lt"/>
            </a:endParaRPr>
          </a:p>
        </p:txBody>
      </p:sp>
      <p:sp>
        <p:nvSpPr>
          <p:cNvPr id="11" name="Body paragraph">
            <a:extLst>
              <a:ext uri="{FF2B5EF4-FFF2-40B4-BE49-F238E27FC236}">
                <a16:creationId xmlns:a16="http://schemas.microsoft.com/office/drawing/2014/main" id="{55B58AAC-CEF3-451B-C172-C635C31AA880}"/>
              </a:ext>
            </a:extLst>
          </p:cNvPr>
          <p:cNvSpPr txBox="1"/>
          <p:nvPr userDrawn="1"/>
        </p:nvSpPr>
        <p:spPr>
          <a:xfrm>
            <a:off x="418284" y="1968341"/>
            <a:ext cx="42416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Wir entwickeln individuelle KI- &amp; AR-Erlebniswelten für Weihnachtsmärkte — und schaffen dabei mehrere vernetzte Erlebnisstationen auf dem gesamten Markt.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2" name="Bullet 1">
            <a:extLst>
              <a:ext uri="{FF2B5EF4-FFF2-40B4-BE49-F238E27FC236}">
                <a16:creationId xmlns:a16="http://schemas.microsoft.com/office/drawing/2014/main" id="{CD5CE63C-9ADE-F2D8-AA1E-D070652CFCBB}"/>
              </a:ext>
            </a:extLst>
          </p:cNvPr>
          <p:cNvSpPr txBox="1"/>
          <p:nvPr userDrawn="1"/>
        </p:nvSpPr>
        <p:spPr>
          <a:xfrm>
            <a:off x="1529681" y="2940735"/>
            <a:ext cx="29230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baseline="0" dirty="0">
                <a:solidFill>
                  <a:srgbClr val="231F20"/>
                </a:solidFill>
                <a:latin typeface="+mn-lt"/>
              </a:rPr>
              <a:t>Erlebniskonzept und 3D-Masken</a:t>
            </a:r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 werden individuell für den jeweiligen Markt entwickelt.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3" name="Bullet 2">
            <a:extLst>
              <a:ext uri="{FF2B5EF4-FFF2-40B4-BE49-F238E27FC236}">
                <a16:creationId xmlns:a16="http://schemas.microsoft.com/office/drawing/2014/main" id="{304802F7-D140-7F90-B698-DC7DB80DF2CD}"/>
              </a:ext>
            </a:extLst>
          </p:cNvPr>
          <p:cNvSpPr txBox="1"/>
          <p:nvPr userDrawn="1"/>
        </p:nvSpPr>
        <p:spPr>
          <a:xfrm>
            <a:off x="1537855" y="3901810"/>
            <a:ext cx="2746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baseline="0" dirty="0">
                <a:solidFill>
                  <a:srgbClr val="231F20"/>
                </a:solidFill>
                <a:latin typeface="+mn-lt"/>
              </a:rPr>
              <a:t>Hüttendesign</a:t>
            </a:r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, Technik und Aufbau werden vollständig durch uns realisiert.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5" name="Bullet 3">
            <a:extLst>
              <a:ext uri="{FF2B5EF4-FFF2-40B4-BE49-F238E27FC236}">
                <a16:creationId xmlns:a16="http://schemas.microsoft.com/office/drawing/2014/main" id="{11DE6DE9-EB4D-F440-9BC5-5A5C210BA305}"/>
              </a:ext>
            </a:extLst>
          </p:cNvPr>
          <p:cNvSpPr txBox="1"/>
          <p:nvPr userDrawn="1"/>
        </p:nvSpPr>
        <p:spPr>
          <a:xfrm>
            <a:off x="1525747" y="4879158"/>
            <a:ext cx="2995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baseline="0" dirty="0">
                <a:solidFill>
                  <a:srgbClr val="231F20"/>
                </a:solidFill>
                <a:latin typeface="+mn-lt"/>
              </a:rPr>
              <a:t>Wir stellen eigenes Personal vor Ort -</a:t>
            </a:r>
            <a:r>
              <a:rPr lang="de-DE" sz="1400" b="0" baseline="0" dirty="0">
                <a:solidFill>
                  <a:srgbClr val="231F20"/>
                </a:solidFill>
                <a:latin typeface="+mn-lt"/>
              </a:rPr>
              <a:t> der Marktleiter kümmert sich um nichts.</a:t>
            </a:r>
            <a:endParaRPr lang="ru-UA" sz="1400" b="0" baseline="0" dirty="0">
              <a:solidFill>
                <a:srgbClr val="231F20"/>
              </a:solidFill>
              <a:latin typeface="+mn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5F0F49-03F4-4080-816C-DC6434F1A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45" y="1654916"/>
            <a:ext cx="4126479" cy="405385"/>
          </a:xfrm>
          <a:prstGeom prst="rect">
            <a:avLst/>
          </a:prstGeom>
        </p:spPr>
      </p:pic>
      <p:cxnSp>
        <p:nvCxnSpPr>
          <p:cNvPr id="8" name="Пряма сполучна лінія 7">
            <a:extLst>
              <a:ext uri="{FF2B5EF4-FFF2-40B4-BE49-F238E27FC236}">
                <a16:creationId xmlns:a16="http://schemas.microsoft.com/office/drawing/2014/main" id="{8559951C-D409-4509-9FE7-8880737939AA}"/>
              </a:ext>
            </a:extLst>
          </p:cNvPr>
          <p:cNvCxnSpPr>
            <a:cxnSpLocks/>
          </p:cNvCxnSpPr>
          <p:nvPr userDrawn="1"/>
        </p:nvCxnSpPr>
        <p:spPr>
          <a:xfrm>
            <a:off x="1537855" y="3790604"/>
            <a:ext cx="269724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 сполучна лінія 27">
            <a:extLst>
              <a:ext uri="{FF2B5EF4-FFF2-40B4-BE49-F238E27FC236}">
                <a16:creationId xmlns:a16="http://schemas.microsoft.com/office/drawing/2014/main" id="{05672D53-81C9-4068-AE2F-4660BFBDF14E}"/>
              </a:ext>
            </a:extLst>
          </p:cNvPr>
          <p:cNvCxnSpPr/>
          <p:nvPr userDrawn="1"/>
        </p:nvCxnSpPr>
        <p:spPr>
          <a:xfrm>
            <a:off x="0" y="618466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AAA7052-6C43-4902-A0E1-DF93EED318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7855" y="4799845"/>
            <a:ext cx="2706859" cy="609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033D709-72ED-46CC-9767-2BB24F9365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44" y="2950764"/>
            <a:ext cx="795207" cy="801278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1466AD0-10EF-480A-8F7C-6945F3D270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8" y="3830878"/>
            <a:ext cx="795207" cy="801278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EDE08013-B9F7-4D92-90E6-3DE6C0CFF73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19" y="4787714"/>
            <a:ext cx="795207" cy="801276"/>
          </a:xfrm>
          <a:prstGeom prst="rect">
            <a:avLst/>
          </a:prstGeom>
          <a:ln>
            <a:noFill/>
          </a:ln>
        </p:spPr>
      </p:pic>
      <p:sp>
        <p:nvSpPr>
          <p:cNvPr id="4" name="Прямокутник: округлені кути 3">
            <a:extLst>
              <a:ext uri="{FF2B5EF4-FFF2-40B4-BE49-F238E27FC236}">
                <a16:creationId xmlns:a16="http://schemas.microsoft.com/office/drawing/2014/main" id="{3D536D27-E44E-6555-09E6-9094AFDC0D90}"/>
              </a:ext>
            </a:extLst>
          </p:cNvPr>
          <p:cNvSpPr/>
          <p:nvPr userDrawn="1"/>
        </p:nvSpPr>
        <p:spPr>
          <a:xfrm>
            <a:off x="6820301" y="5412813"/>
            <a:ext cx="3639846" cy="487389"/>
          </a:xfrm>
          <a:prstGeom prst="round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TXT_THEME_WORLD_NAME">
            <a:extLst>
              <a:ext uri="{FF2B5EF4-FFF2-40B4-BE49-F238E27FC236}">
                <a16:creationId xmlns:a16="http://schemas.microsoft.com/office/drawing/2014/main" id="{B41E9178-20F8-7D89-16A7-552D0086F7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20301" y="5484247"/>
            <a:ext cx="3639846" cy="344520"/>
          </a:xfrm>
          <a:noFill/>
          <a:ln>
            <a:noFill/>
          </a:ln>
        </p:spPr>
        <p:txBody>
          <a:bodyPr>
            <a:normAutofit/>
          </a:bodyPr>
          <a:lstStyle>
            <a:lvl1pPr algn="ctr">
              <a:buNone/>
              <a:defRPr sz="1800" b="1" baseline="0">
                <a:solidFill>
                  <a:srgbClr val="F2F0EE"/>
                </a:solidFill>
                <a:latin typeface="+mn-lt"/>
              </a:defRPr>
            </a:lvl1pPr>
            <a:lvl2pPr>
              <a:buNone/>
              <a:defRPr sz="1500" baseline="0">
                <a:solidFill>
                  <a:srgbClr val="F2F0EE"/>
                </a:solidFill>
              </a:defRPr>
            </a:lvl2pPr>
            <a:lvl3pPr>
              <a:buNone/>
              <a:defRPr sz="1500" baseline="0">
                <a:solidFill>
                  <a:srgbClr val="F2F0EE"/>
                </a:solidFill>
              </a:defRPr>
            </a:lvl3pPr>
            <a:lvl4pPr>
              <a:buNone/>
              <a:defRPr sz="1500" baseline="0">
                <a:solidFill>
                  <a:srgbClr val="F2F0EE"/>
                </a:solidFill>
              </a:defRPr>
            </a:lvl4pPr>
            <a:lvl5pPr>
              <a:buNone/>
              <a:defRPr sz="1500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en-US" dirty="0" err="1"/>
              <a:t>Märchengasse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1448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3_THEME_SHOW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G_SHOWCASE_BACKGROUND">
            <a:extLst>
              <a:ext uri="{FF2B5EF4-FFF2-40B4-BE49-F238E27FC236}">
                <a16:creationId xmlns:a16="http://schemas.microsoft.com/office/drawing/2014/main" id="{F45D7084-EC72-4754-98E8-CD90EB97DC6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ru-UA"/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7015C83-118D-35B7-AFFD-AA1F80FBE326}"/>
              </a:ext>
            </a:extLst>
          </p:cNvPr>
          <p:cNvSpPr/>
          <p:nvPr userDrawn="1"/>
        </p:nvSpPr>
        <p:spPr>
          <a:xfrm>
            <a:off x="1281476" y="1024959"/>
            <a:ext cx="3639846" cy="487389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11" name="TXT_THEME_WORLD_NAME_1">
            <a:extLst>
              <a:ext uri="{FF2B5EF4-FFF2-40B4-BE49-F238E27FC236}">
                <a16:creationId xmlns:a16="http://schemas.microsoft.com/office/drawing/2014/main" id="{2850ECA9-D7FE-0421-B08C-1502F74F81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476" y="1011812"/>
            <a:ext cx="3639846" cy="487389"/>
          </a:xfrm>
        </p:spPr>
        <p:txBody>
          <a:bodyPr/>
          <a:lstStyle>
            <a:lvl1pPr algn="ctr">
              <a:buNone/>
              <a:defRPr sz="2800" b="1" baseline="0">
                <a:solidFill>
                  <a:srgbClr val="F2F0EE"/>
                </a:solidFill>
              </a:defRPr>
            </a:lvl1pPr>
            <a:lvl2pPr>
              <a:buNone/>
              <a:defRPr sz="2741" baseline="0">
                <a:solidFill>
                  <a:srgbClr val="F2F0EE"/>
                </a:solidFill>
              </a:defRPr>
            </a:lvl2pPr>
            <a:lvl3pPr>
              <a:buNone/>
              <a:defRPr sz="2741" baseline="0">
                <a:solidFill>
                  <a:srgbClr val="F2F0EE"/>
                </a:solidFill>
              </a:defRPr>
            </a:lvl3pPr>
            <a:lvl4pPr>
              <a:buNone/>
              <a:defRPr sz="2741" baseline="0">
                <a:solidFill>
                  <a:srgbClr val="F2F0EE"/>
                </a:solidFill>
              </a:defRPr>
            </a:lvl4pPr>
            <a:lvl5pPr>
              <a:buNone/>
              <a:defRPr sz="2741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uk-UA" dirty="0"/>
              <a:t>Клацніть</a:t>
            </a: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9D86C279-0174-1781-78BB-91A08F1ABED6}"/>
              </a:ext>
            </a:extLst>
          </p:cNvPr>
          <p:cNvSpPr/>
          <p:nvPr userDrawn="1"/>
        </p:nvSpPr>
        <p:spPr>
          <a:xfrm>
            <a:off x="7270679" y="1038484"/>
            <a:ext cx="3639846" cy="487389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2" name="TXT_THEME_WORLD_NAME_2">
            <a:extLst>
              <a:ext uri="{FF2B5EF4-FFF2-40B4-BE49-F238E27FC236}">
                <a16:creationId xmlns:a16="http://schemas.microsoft.com/office/drawing/2014/main" id="{C0934698-967E-BA7B-8398-8BED3B57B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70679" y="1038484"/>
            <a:ext cx="3639846" cy="487389"/>
          </a:xfrm>
        </p:spPr>
        <p:txBody>
          <a:bodyPr/>
          <a:lstStyle>
            <a:lvl1pPr algn="ctr">
              <a:buNone/>
              <a:defRPr sz="2800" b="1" baseline="0">
                <a:solidFill>
                  <a:srgbClr val="F2F0EE"/>
                </a:solidFill>
              </a:defRPr>
            </a:lvl1pPr>
            <a:lvl2pPr>
              <a:buNone/>
              <a:defRPr sz="2741" baseline="0">
                <a:solidFill>
                  <a:srgbClr val="F2F0EE"/>
                </a:solidFill>
              </a:defRPr>
            </a:lvl2pPr>
            <a:lvl3pPr>
              <a:buNone/>
              <a:defRPr sz="2741" baseline="0">
                <a:solidFill>
                  <a:srgbClr val="F2F0EE"/>
                </a:solidFill>
              </a:defRPr>
            </a:lvl3pPr>
            <a:lvl4pPr>
              <a:buNone/>
              <a:defRPr sz="2741" baseline="0">
                <a:solidFill>
                  <a:srgbClr val="F2F0EE"/>
                </a:solidFill>
              </a:defRPr>
            </a:lvl4pPr>
            <a:lvl5pPr>
              <a:buNone/>
              <a:defRPr sz="2741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uk-UA" dirty="0"/>
              <a:t>Клацніть</a:t>
            </a:r>
          </a:p>
        </p:txBody>
      </p:sp>
      <p:sp>
        <p:nvSpPr>
          <p:cNvPr id="68" name="Прямокутник: округлені кути 67">
            <a:extLst>
              <a:ext uri="{FF2B5EF4-FFF2-40B4-BE49-F238E27FC236}">
                <a16:creationId xmlns:a16="http://schemas.microsoft.com/office/drawing/2014/main" id="{285B09BA-F04E-4848-A144-94BF57D8ABF4}"/>
              </a:ext>
            </a:extLst>
          </p:cNvPr>
          <p:cNvSpPr/>
          <p:nvPr userDrawn="1"/>
        </p:nvSpPr>
        <p:spPr>
          <a:xfrm>
            <a:off x="1418072" y="5233818"/>
            <a:ext cx="3273482" cy="463818"/>
          </a:xfrm>
          <a:prstGeom prst="round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uk-UA" dirty="0"/>
          </a:p>
        </p:txBody>
      </p:sp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50BE7248-BEC7-475F-BE81-D486D29D2D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88247" y="5234300"/>
            <a:ext cx="3146896" cy="463336"/>
          </a:xfrm>
          <a:prstGeom prst="rect">
            <a:avLst/>
          </a:prstGeom>
        </p:spPr>
      </p:pic>
      <p:sp>
        <p:nvSpPr>
          <p:cNvPr id="74" name="TXT_THEME_TAGLINE_1">
            <a:extLst>
              <a:ext uri="{FF2B5EF4-FFF2-40B4-BE49-F238E27FC236}">
                <a16:creationId xmlns:a16="http://schemas.microsoft.com/office/drawing/2014/main" id="{26C79725-DF39-433D-8249-2C61678623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5199" y="5329443"/>
            <a:ext cx="3074400" cy="27305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lvl="0"/>
            <a:r>
              <a:rPr lang="en-US" dirty="0"/>
              <a:t>Luther &amp; Reformation</a:t>
            </a:r>
            <a:endParaRPr lang="uk-UA" dirty="0"/>
          </a:p>
        </p:txBody>
      </p:sp>
      <p:sp>
        <p:nvSpPr>
          <p:cNvPr id="72" name="TXT_THEME_TAGLINE_2">
            <a:extLst>
              <a:ext uri="{FF2B5EF4-FFF2-40B4-BE49-F238E27FC236}">
                <a16:creationId xmlns:a16="http://schemas.microsoft.com/office/drawing/2014/main" id="{493220ED-3109-4B5C-B7FB-9B32ACC924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4495" y="5320130"/>
            <a:ext cx="3074400" cy="27305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lvl="0"/>
            <a:r>
              <a:rPr lang="en-US" dirty="0" err="1"/>
              <a:t>Händelstadt</a:t>
            </a:r>
            <a:r>
              <a:rPr lang="en-US" dirty="0"/>
              <a:t> Halle</a:t>
            </a:r>
            <a:endParaRPr lang="uk-UA" dirty="0"/>
          </a:p>
        </p:txBody>
      </p:sp>
      <p:sp>
        <p:nvSpPr>
          <p:cNvPr id="7" name="IMG_THEME_WORLD_PHOTO_1">
            <a:extLst>
              <a:ext uri="{FF2B5EF4-FFF2-40B4-BE49-F238E27FC236}">
                <a16:creationId xmlns:a16="http://schemas.microsoft.com/office/drawing/2014/main" id="{87DF57DF-42BC-B498-6A9D-E65C78BCA6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18072" y="1668900"/>
            <a:ext cx="3366655" cy="3367610"/>
          </a:xfrm>
          <a:prstGeom prst="roundRect">
            <a:avLst/>
          </a:prstGeom>
        </p:spPr>
        <p:txBody>
          <a:bodyPr/>
          <a:lstStyle/>
          <a:p>
            <a:endParaRPr lang="ru-UA"/>
          </a:p>
        </p:txBody>
      </p:sp>
      <p:pic>
        <p:nvPicPr>
          <p:cNvPr id="15" name="Рисунок 2">
            <a:extLst>
              <a:ext uri="{FF2B5EF4-FFF2-40B4-BE49-F238E27FC236}">
                <a16:creationId xmlns:a16="http://schemas.microsoft.com/office/drawing/2014/main" id="{83E220B8-D5DE-45B7-14CD-D3393B3493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0577" y="146688"/>
            <a:ext cx="2475191" cy="731583"/>
          </a:xfrm>
          <a:prstGeom prst="rect">
            <a:avLst/>
          </a:prstGeom>
        </p:spPr>
      </p:pic>
      <p:sp>
        <p:nvSpPr>
          <p:cNvPr id="2" name="IMG_THEME_WORLD_PHOTO_2">
            <a:extLst>
              <a:ext uri="{FF2B5EF4-FFF2-40B4-BE49-F238E27FC236}">
                <a16:creationId xmlns:a16="http://schemas.microsoft.com/office/drawing/2014/main" id="{A32FC0E5-391B-0A18-AA7D-D62D982BF99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07275" y="1707797"/>
            <a:ext cx="3366655" cy="3367610"/>
          </a:xfrm>
          <a:prstGeom prst="roundRect">
            <a:avLst/>
          </a:prstGeom>
        </p:spPr>
        <p:txBody>
          <a:bodyPr/>
          <a:lstStyle/>
          <a:p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3461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4_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Jeder Markt bekommt seine eigene Welt.">
            <a:extLst>
              <a:ext uri="{FF2B5EF4-FFF2-40B4-BE49-F238E27FC236}">
                <a16:creationId xmlns:a16="http://schemas.microsoft.com/office/drawing/2014/main" id="{FD460311-F65C-7742-D0DE-7C137BBFFD60}"/>
              </a:ext>
            </a:extLst>
          </p:cNvPr>
          <p:cNvSpPr txBox="1"/>
          <p:nvPr userDrawn="1"/>
        </p:nvSpPr>
        <p:spPr>
          <a:xfrm>
            <a:off x="543599" y="503455"/>
            <a:ext cx="731061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baseline="0" dirty="0">
                <a:latin typeface="+mj-lt"/>
              </a:rPr>
              <a:t>Jeder Markt bekommt seine eigene Welt.</a:t>
            </a:r>
            <a:endParaRPr lang="ru-UA" sz="2800" b="1" baseline="0" dirty="0">
              <a:latin typeface="+mj-lt"/>
            </a:endParaRPr>
          </a:p>
        </p:txBody>
      </p:sp>
      <p:sp>
        <p:nvSpPr>
          <p:cNvPr id="7" name="Wir entwickeln Hüttendesign">
            <a:extLst>
              <a:ext uri="{FF2B5EF4-FFF2-40B4-BE49-F238E27FC236}">
                <a16:creationId xmlns:a16="http://schemas.microsoft.com/office/drawing/2014/main" id="{688ED1CE-4B6F-BB35-AD1A-A8D9DABBA3C8}"/>
              </a:ext>
            </a:extLst>
          </p:cNvPr>
          <p:cNvSpPr txBox="1"/>
          <p:nvPr userDrawn="1"/>
        </p:nvSpPr>
        <p:spPr>
          <a:xfrm>
            <a:off x="543599" y="1184683"/>
            <a:ext cx="90573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latin typeface="+mn-lt"/>
              </a:rPr>
              <a:t>Wir </a:t>
            </a:r>
            <a:r>
              <a:rPr lang="en-US" sz="1400" baseline="0" dirty="0" err="1">
                <a:latin typeface="+mn-lt"/>
              </a:rPr>
              <a:t>entwickeln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Hüttendesign</a:t>
            </a:r>
            <a:r>
              <a:rPr lang="en-US" sz="1400" baseline="0" dirty="0">
                <a:latin typeface="+mn-lt"/>
              </a:rPr>
              <a:t>, </a:t>
            </a:r>
            <a:r>
              <a:rPr lang="en-US" sz="1400" baseline="0" dirty="0" err="1">
                <a:latin typeface="+mn-lt"/>
              </a:rPr>
              <a:t>Masken</a:t>
            </a:r>
            <a:r>
              <a:rPr lang="en-US" sz="1400" baseline="0" dirty="0">
                <a:latin typeface="+mn-lt"/>
              </a:rPr>
              <a:t>, und </a:t>
            </a:r>
            <a:r>
              <a:rPr lang="en-US" sz="1400" baseline="0" dirty="0" err="1">
                <a:latin typeface="+mn-lt"/>
              </a:rPr>
              <a:t>Erlebniswelt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individuell</a:t>
            </a:r>
            <a:r>
              <a:rPr lang="en-US" sz="1400" baseline="0" dirty="0">
                <a:latin typeface="+mn-lt"/>
              </a:rPr>
              <a:t> – </a:t>
            </a:r>
            <a:r>
              <a:rPr lang="en-US" sz="1400" baseline="0" dirty="0" err="1">
                <a:latin typeface="+mn-lt"/>
              </a:rPr>
              <a:t>passend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zur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Identität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Ihres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Markts</a:t>
            </a:r>
            <a:r>
              <a:rPr lang="en-US" sz="1400" baseline="0" dirty="0">
                <a:latin typeface="+mn-lt"/>
              </a:rPr>
              <a:t>.</a:t>
            </a:r>
            <a:endParaRPr lang="ru-UA" sz="1400" baseline="0" dirty="0">
              <a:latin typeface="+mn-lt"/>
            </a:endParaRPr>
          </a:p>
        </p:txBody>
      </p:sp>
      <p:sp>
        <p:nvSpPr>
          <p:cNvPr id="8" name="Підпис 1">
            <a:extLst>
              <a:ext uri="{FF2B5EF4-FFF2-40B4-BE49-F238E27FC236}">
                <a16:creationId xmlns:a16="http://schemas.microsoft.com/office/drawing/2014/main" id="{87FD8A48-131A-726B-10EA-5A5EC20D87BC}"/>
              </a:ext>
            </a:extLst>
          </p:cNvPr>
          <p:cNvSpPr txBox="1"/>
          <p:nvPr userDrawn="1"/>
        </p:nvSpPr>
        <p:spPr>
          <a:xfrm>
            <a:off x="684783" y="3486090"/>
            <a:ext cx="4707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+mn-lt"/>
              </a:rPr>
              <a:t>Historischer Markt —</a:t>
            </a:r>
            <a:r>
              <a:rPr lang="de-DE" sz="1200" b="0" i="0" baseline="0" dirty="0">
                <a:latin typeface="+mn-lt"/>
              </a:rPr>
              <a:t> Mozart · Komponist · Hofmusiker.</a:t>
            </a:r>
            <a:endParaRPr lang="ru-UA" sz="1200" b="0" i="0" baseline="0" dirty="0">
              <a:latin typeface="+mn-lt"/>
            </a:endParaRPr>
          </a:p>
        </p:txBody>
      </p:sp>
      <p:sp>
        <p:nvSpPr>
          <p:cNvPr id="9" name="Підпис 2">
            <a:extLst>
              <a:ext uri="{FF2B5EF4-FFF2-40B4-BE49-F238E27FC236}">
                <a16:creationId xmlns:a16="http://schemas.microsoft.com/office/drawing/2014/main" id="{93D3F522-7E33-6967-C337-16CF3B049ACF}"/>
              </a:ext>
            </a:extLst>
          </p:cNvPr>
          <p:cNvSpPr txBox="1"/>
          <p:nvPr userDrawn="1"/>
        </p:nvSpPr>
        <p:spPr>
          <a:xfrm>
            <a:off x="5840720" y="3486090"/>
            <a:ext cx="47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+mn-lt"/>
              </a:rPr>
              <a:t>Märchenmarkt — </a:t>
            </a:r>
            <a:r>
              <a:rPr lang="de-DE" sz="1200" b="0" i="0" baseline="0" dirty="0">
                <a:latin typeface="+mn-lt"/>
              </a:rPr>
              <a:t>Das tapfere Schneiderlein · Prinzessin · König.</a:t>
            </a:r>
            <a:endParaRPr lang="ru-UA" sz="1200" b="0" i="0" baseline="0" dirty="0">
              <a:latin typeface="+mn-lt"/>
            </a:endParaRPr>
          </a:p>
        </p:txBody>
      </p:sp>
      <p:sp>
        <p:nvSpPr>
          <p:cNvPr id="10" name="Підпис 3">
            <a:extLst>
              <a:ext uri="{FF2B5EF4-FFF2-40B4-BE49-F238E27FC236}">
                <a16:creationId xmlns:a16="http://schemas.microsoft.com/office/drawing/2014/main" id="{62193309-A7CE-EFAF-C82B-65950FCAF4D2}"/>
              </a:ext>
            </a:extLst>
          </p:cNvPr>
          <p:cNvSpPr txBox="1"/>
          <p:nvPr userDrawn="1"/>
        </p:nvSpPr>
        <p:spPr>
          <a:xfrm>
            <a:off x="684783" y="5705916"/>
            <a:ext cx="5450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+mn-lt"/>
              </a:rPr>
              <a:t>Barock</a:t>
            </a:r>
            <a:r>
              <a:rPr lang="en-US" sz="1200" b="1" dirty="0">
                <a:latin typeface="+mn-lt"/>
              </a:rPr>
              <a:t> &amp; Schloss — </a:t>
            </a:r>
            <a:r>
              <a:rPr lang="en-US" sz="1200" b="0" i="0" baseline="0" dirty="0">
                <a:latin typeface="+mn-lt"/>
              </a:rPr>
              <a:t>Markgraf · </a:t>
            </a:r>
            <a:r>
              <a:rPr lang="en-US" sz="1200" b="0" i="0" baseline="0" dirty="0" err="1">
                <a:latin typeface="+mn-lt"/>
              </a:rPr>
              <a:t>Hofdame</a:t>
            </a:r>
            <a:r>
              <a:rPr lang="en-US" sz="1200" b="0" i="0" baseline="0" dirty="0">
                <a:latin typeface="+mn-lt"/>
              </a:rPr>
              <a:t> · </a:t>
            </a:r>
            <a:r>
              <a:rPr lang="en-US" sz="1200" b="0" i="0" baseline="0" dirty="0" err="1">
                <a:latin typeface="+mn-lt"/>
              </a:rPr>
              <a:t>Venezianische</a:t>
            </a:r>
            <a:r>
              <a:rPr lang="en-US" sz="1200" b="0" i="0" baseline="0" dirty="0">
                <a:latin typeface="+mn-lt"/>
              </a:rPr>
              <a:t> </a:t>
            </a:r>
            <a:r>
              <a:rPr lang="en-US" sz="1200" b="0" i="0" baseline="0" dirty="0" err="1">
                <a:latin typeface="+mn-lt"/>
              </a:rPr>
              <a:t>Maskenfigur</a:t>
            </a:r>
            <a:r>
              <a:rPr lang="en-US" sz="1200" b="0" i="0" baseline="0" dirty="0">
                <a:latin typeface="+mn-lt"/>
              </a:rPr>
              <a:t>.</a:t>
            </a:r>
            <a:endParaRPr lang="ru-UA" sz="1200" b="0" i="0" baseline="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A00EF-52FD-40E2-8F31-4146A4517B38}"/>
              </a:ext>
            </a:extLst>
          </p:cNvPr>
          <p:cNvSpPr txBox="1"/>
          <p:nvPr userDrawn="1"/>
        </p:nvSpPr>
        <p:spPr>
          <a:xfrm>
            <a:off x="5840720" y="5705916"/>
            <a:ext cx="5153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+mn-lt"/>
              </a:rPr>
              <a:t>Regionale Identität — </a:t>
            </a:r>
            <a:r>
              <a:rPr lang="de-DE" sz="1200" b="0" i="0" baseline="0" dirty="0">
                <a:latin typeface="+mn-lt"/>
              </a:rPr>
              <a:t>Erzgebirgsmännchen · Bergmann · Winzermeister.</a:t>
            </a:r>
            <a:endParaRPr lang="ru-UA" sz="1200" b="0" i="0" baseline="0" dirty="0">
              <a:latin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85AB39-E192-49C5-BEC4-C947BA7279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9" y="884173"/>
            <a:ext cx="7285416" cy="405385"/>
          </a:xfrm>
          <a:prstGeom prst="rect">
            <a:avLst/>
          </a:prstGeom>
        </p:spPr>
      </p:pic>
      <p:cxnSp>
        <p:nvCxnSpPr>
          <p:cNvPr id="29" name="Пряма сполучна лінія 28">
            <a:extLst>
              <a:ext uri="{FF2B5EF4-FFF2-40B4-BE49-F238E27FC236}">
                <a16:creationId xmlns:a16="http://schemas.microsoft.com/office/drawing/2014/main" id="{B40FBB5E-0D3D-4D87-B0B6-766177CA7348}"/>
              </a:ext>
            </a:extLst>
          </p:cNvPr>
          <p:cNvCxnSpPr/>
          <p:nvPr userDrawn="1"/>
        </p:nvCxnSpPr>
        <p:spPr>
          <a:xfrm>
            <a:off x="0" y="6076604"/>
            <a:ext cx="12261273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FCA37A-73A6-89B3-E056-891F9D201B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  <p:sp>
        <p:nvSpPr>
          <p:cNvPr id="12" name="TXT_REFERENCES_FOOTER">
            <a:extLst>
              <a:ext uri="{FF2B5EF4-FFF2-40B4-BE49-F238E27FC236}">
                <a16:creationId xmlns:a16="http://schemas.microsoft.com/office/drawing/2014/main" id="{950DAE5B-39C5-7509-A586-994B170E8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4783" y="6170294"/>
            <a:ext cx="6750065" cy="522000"/>
          </a:xfrm>
        </p:spPr>
        <p:txBody>
          <a:bodyPr>
            <a:normAutofit/>
          </a:bodyPr>
          <a:lstStyle>
            <a:lvl1pPr>
              <a:buNone/>
              <a:defRPr sz="1050" b="1" baseline="0">
                <a:latin typeface="+mn-lt"/>
              </a:defRPr>
            </a:lvl1pPr>
            <a:lvl2pPr>
              <a:buNone/>
              <a:defRPr sz="1000" baseline="0"/>
            </a:lvl2pPr>
            <a:lvl3pPr>
              <a:buNone/>
              <a:defRPr sz="1000" baseline="0"/>
            </a:lvl3pPr>
            <a:lvl4pPr>
              <a:buNone/>
              <a:defRPr sz="1000" baseline="0"/>
            </a:lvl4pPr>
            <a:lvl5pPr>
              <a:buNone/>
              <a:defRPr sz="1000" baseline="0"/>
            </a:lvl5pPr>
          </a:lstStyle>
          <a:p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Striezelmarkt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Dresden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Salzburger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Christkindlmarkt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  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Berliner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Weihnachtszeit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Weihnachtsmarkt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Wiesbaden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K</a:t>
            </a:r>
            <a:r>
              <a:rPr lang="de-DE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ölner</a:t>
            </a:r>
            <a:r>
              <a:rPr lang="de-DE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Dom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Tower Bridge London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Checkpoint Charlie Berlin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Wiener Prater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und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viele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mehr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.</a:t>
            </a:r>
            <a:endParaRPr lang="ru-UA" sz="1000" b="0" i="0" baseline="0" dirty="0">
              <a:latin typeface="Bahnschrift SemiLight" panose="020B0502040204020203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9BD1B2-BCA9-3BF8-ECD2-C3DB5C668F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10" y="1563634"/>
            <a:ext cx="4554221" cy="201411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BCC1DD0-A609-E24B-6AD5-D5FA1749887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83" y="3720115"/>
            <a:ext cx="3772953" cy="201411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8390C93-F9E4-1100-64C1-ADAABA10486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216" y="1573156"/>
            <a:ext cx="4282899" cy="200458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9999202-36A2-AAA8-69AF-C0F7C83C4D8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216" y="3775182"/>
            <a:ext cx="4282899" cy="200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8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5_USER_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line">
            <a:extLst>
              <a:ext uri="{FF2B5EF4-FFF2-40B4-BE49-F238E27FC236}">
                <a16:creationId xmlns:a16="http://schemas.microsoft.com/office/drawing/2014/main" id="{D21688B1-C3B6-3A71-B769-0AAD520F755D}"/>
              </a:ext>
            </a:extLst>
          </p:cNvPr>
          <p:cNvSpPr txBox="1"/>
          <p:nvPr userDrawn="1"/>
        </p:nvSpPr>
        <p:spPr>
          <a:xfrm>
            <a:off x="478799" y="352800"/>
            <a:ext cx="54407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baseline="0" dirty="0">
                <a:latin typeface="+mj-lt"/>
              </a:rPr>
              <a:t>Für Ihre Besucher:</a:t>
            </a:r>
            <a:endParaRPr lang="uk-UA" sz="2800" b="1" baseline="0" dirty="0">
              <a:latin typeface="+mj-lt"/>
            </a:endParaRPr>
          </a:p>
          <a:p>
            <a:r>
              <a:rPr lang="de-DE" sz="2800" b="1" baseline="0" dirty="0">
                <a:latin typeface="+mj-lt"/>
              </a:rPr>
              <a:t>drei Schritte — ein</a:t>
            </a:r>
            <a:endParaRPr lang="uk-UA" sz="2800" b="1" baseline="0" dirty="0">
              <a:latin typeface="+mj-lt"/>
            </a:endParaRPr>
          </a:p>
          <a:p>
            <a:r>
              <a:rPr lang="de-DE" sz="2800" b="1" baseline="0" dirty="0">
                <a:latin typeface="+mj-lt"/>
              </a:rPr>
              <a:t>unvergesslicher Moment.</a:t>
            </a:r>
            <a:endParaRPr lang="ru-UA" sz="2800" b="1" baseline="0" dirty="0">
              <a:latin typeface="+mj-lt"/>
            </a:endParaRPr>
          </a:p>
        </p:txBody>
      </p:sp>
      <p:sp>
        <p:nvSpPr>
          <p:cNvPr id="8" name="Step 1 label">
            <a:extLst>
              <a:ext uri="{FF2B5EF4-FFF2-40B4-BE49-F238E27FC236}">
                <a16:creationId xmlns:a16="http://schemas.microsoft.com/office/drawing/2014/main" id="{84222B2E-F0B8-3383-D298-1B8BC1650184}"/>
              </a:ext>
            </a:extLst>
          </p:cNvPr>
          <p:cNvSpPr txBox="1"/>
          <p:nvPr userDrawn="1"/>
        </p:nvSpPr>
        <p:spPr>
          <a:xfrm>
            <a:off x="1353952" y="2263303"/>
            <a:ext cx="23184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0" baseline="0" dirty="0">
                <a:latin typeface="+mn-lt"/>
              </a:rPr>
              <a:t>Maske wählen — </a:t>
            </a:r>
            <a:br>
              <a:rPr lang="de-DE" sz="1400" b="1" i="0" baseline="0" dirty="0">
                <a:latin typeface="+mn-lt"/>
              </a:rPr>
            </a:br>
            <a:r>
              <a:rPr lang="de-DE" sz="1400" b="0" baseline="0" dirty="0">
                <a:latin typeface="+mn-lt"/>
              </a:rPr>
              <a:t>aus verschiedenen Stilen </a:t>
            </a:r>
            <a:br>
              <a:rPr lang="de-DE" sz="1400" b="0" baseline="0" dirty="0">
                <a:latin typeface="+mn-lt"/>
              </a:rPr>
            </a:br>
            <a:r>
              <a:rPr lang="en-US" sz="1400" b="0" baseline="0" dirty="0">
                <a:latin typeface="+mn-lt"/>
              </a:rPr>
              <a:t>und</a:t>
            </a:r>
            <a:r>
              <a:rPr lang="de-DE" sz="1400" b="0" baseline="0" dirty="0">
                <a:latin typeface="+mn-lt"/>
              </a:rPr>
              <a:t> Erlebniswelten.</a:t>
            </a:r>
            <a:endParaRPr lang="ru-UA" sz="1400" b="0" baseline="0" dirty="0">
              <a:latin typeface="+mn-lt"/>
            </a:endParaRPr>
          </a:p>
        </p:txBody>
      </p:sp>
      <p:sp>
        <p:nvSpPr>
          <p:cNvPr id="9" name="Step 2 label">
            <a:extLst>
              <a:ext uri="{FF2B5EF4-FFF2-40B4-BE49-F238E27FC236}">
                <a16:creationId xmlns:a16="http://schemas.microsoft.com/office/drawing/2014/main" id="{B0753448-C428-2C3E-B68A-03F82BF063B8}"/>
              </a:ext>
            </a:extLst>
          </p:cNvPr>
          <p:cNvSpPr txBox="1"/>
          <p:nvPr userDrawn="1"/>
        </p:nvSpPr>
        <p:spPr>
          <a:xfrm>
            <a:off x="1363179" y="3222463"/>
            <a:ext cx="27022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baseline="0" dirty="0">
                <a:latin typeface="+mn-lt"/>
              </a:rPr>
              <a:t>Szene wählen — </a:t>
            </a:r>
            <a:br>
              <a:rPr lang="de-DE" sz="1400" b="1" baseline="0" dirty="0">
                <a:latin typeface="+mn-lt"/>
              </a:rPr>
            </a:br>
            <a:r>
              <a:rPr lang="de-DE" sz="1400" b="0" baseline="0" dirty="0">
                <a:latin typeface="+mn-lt"/>
              </a:rPr>
              <a:t>passend zu Ihrem Event</a:t>
            </a:r>
            <a:r>
              <a:rPr lang="de-DE" sz="1400" b="1" baseline="0" dirty="0">
                <a:latin typeface="+mn-lt"/>
              </a:rPr>
              <a:t>, </a:t>
            </a:r>
            <a:br>
              <a:rPr lang="de-DE" sz="1400" b="1" baseline="0" dirty="0">
                <a:latin typeface="+mn-lt"/>
              </a:rPr>
            </a:br>
            <a:r>
              <a:rPr lang="de-DE" sz="1400" baseline="0" dirty="0">
                <a:latin typeface="+mn-lt"/>
              </a:rPr>
              <a:t>Ihrer Location, Ihre</a:t>
            </a:r>
            <a:r>
              <a:rPr lang="en-US" sz="1400" baseline="0" dirty="0">
                <a:latin typeface="+mn-lt"/>
              </a:rPr>
              <a:t>r</a:t>
            </a:r>
            <a:r>
              <a:rPr lang="de-DE" sz="1400" baseline="0" dirty="0">
                <a:latin typeface="+mn-lt"/>
              </a:rPr>
              <a:t> Atmosphäre.</a:t>
            </a:r>
            <a:endParaRPr lang="ru-UA" sz="1400" baseline="0" dirty="0">
              <a:latin typeface="+mn-lt"/>
            </a:endParaRPr>
          </a:p>
        </p:txBody>
      </p:sp>
      <p:sp>
        <p:nvSpPr>
          <p:cNvPr id="10" name="Step 3 label">
            <a:extLst>
              <a:ext uri="{FF2B5EF4-FFF2-40B4-BE49-F238E27FC236}">
                <a16:creationId xmlns:a16="http://schemas.microsoft.com/office/drawing/2014/main" id="{33BBBA16-2175-5C8C-0E33-022F837B3497}"/>
              </a:ext>
            </a:extLst>
          </p:cNvPr>
          <p:cNvSpPr txBox="1"/>
          <p:nvPr userDrawn="1"/>
        </p:nvSpPr>
        <p:spPr>
          <a:xfrm>
            <a:off x="1373870" y="4174257"/>
            <a:ext cx="25722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0" baseline="0" dirty="0">
                <a:latin typeface="+mn-lt"/>
              </a:rPr>
              <a:t>Foto machen — </a:t>
            </a:r>
            <a:br>
              <a:rPr lang="de-DE" sz="1400" b="1" i="0" baseline="0" dirty="0">
                <a:latin typeface="+mn-lt"/>
              </a:rPr>
            </a:br>
            <a:r>
              <a:rPr lang="de-DE" sz="1400" baseline="0" dirty="0">
                <a:latin typeface="+mn-lt"/>
              </a:rPr>
              <a:t>fertig. Das persönliche </a:t>
            </a:r>
            <a:br>
              <a:rPr lang="de-DE" sz="1400" baseline="0" dirty="0">
                <a:latin typeface="+mn-lt"/>
              </a:rPr>
            </a:br>
            <a:r>
              <a:rPr lang="de-DE" sz="1400" baseline="0" dirty="0">
                <a:latin typeface="+mn-lt"/>
              </a:rPr>
              <a:t>Erinnerungsstück ist sofort da.</a:t>
            </a:r>
            <a:endParaRPr lang="ru-UA" sz="1400" baseline="0" dirty="0">
              <a:latin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360764-500E-4F6E-8122-B5E3B51F96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11" y="2231068"/>
            <a:ext cx="798578" cy="8046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0295C6-D29B-4BF7-A0CD-804DF24371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38" y="3168397"/>
            <a:ext cx="798578" cy="80467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3D132E-D235-4ADC-B849-A3BC6141D3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38" y="4105726"/>
            <a:ext cx="798578" cy="804674"/>
          </a:xfrm>
          <a:prstGeom prst="rect">
            <a:avLst/>
          </a:prstGeom>
        </p:spPr>
      </p:pic>
      <p:cxnSp>
        <p:nvCxnSpPr>
          <p:cNvPr id="24" name="Пряма сполучна лінія 23">
            <a:extLst>
              <a:ext uri="{FF2B5EF4-FFF2-40B4-BE49-F238E27FC236}">
                <a16:creationId xmlns:a16="http://schemas.microsoft.com/office/drawing/2014/main" id="{F81EFCA0-477E-459F-A981-A882537889C3}"/>
              </a:ext>
            </a:extLst>
          </p:cNvPr>
          <p:cNvCxnSpPr/>
          <p:nvPr userDrawn="1"/>
        </p:nvCxnSpPr>
        <p:spPr>
          <a:xfrm>
            <a:off x="43362" y="6184669"/>
            <a:ext cx="12261273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Step 2 label">
            <a:extLst>
              <a:ext uri="{FF2B5EF4-FFF2-40B4-BE49-F238E27FC236}">
                <a16:creationId xmlns:a16="http://schemas.microsoft.com/office/drawing/2014/main" id="{5C702961-CA11-46F1-8C66-A06BCCC74715}"/>
              </a:ext>
            </a:extLst>
          </p:cNvPr>
          <p:cNvSpPr txBox="1"/>
          <p:nvPr userDrawn="1"/>
        </p:nvSpPr>
        <p:spPr>
          <a:xfrm>
            <a:off x="298296" y="5199598"/>
            <a:ext cx="40715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 err="1">
                <a:latin typeface="+mn-lt"/>
              </a:rPr>
              <a:t>Keine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Einweisung</a:t>
            </a:r>
            <a:r>
              <a:rPr lang="en-US" sz="1400" baseline="0" dirty="0">
                <a:latin typeface="+mn-lt"/>
              </a:rPr>
              <a:t>, </a:t>
            </a:r>
            <a:r>
              <a:rPr lang="en-US" sz="1400" baseline="0" dirty="0" err="1">
                <a:latin typeface="+mn-lt"/>
              </a:rPr>
              <a:t>keine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Wartezeit</a:t>
            </a:r>
            <a:r>
              <a:rPr lang="en-US" sz="1400" baseline="0" dirty="0">
                <a:latin typeface="+mn-lt"/>
              </a:rPr>
              <a:t>, </a:t>
            </a:r>
            <a:r>
              <a:rPr lang="en-US" sz="1400" baseline="0" dirty="0" err="1">
                <a:latin typeface="+mn-lt"/>
              </a:rPr>
              <a:t>keine</a:t>
            </a:r>
            <a:r>
              <a:rPr lang="en-US" sz="1400" baseline="0" dirty="0">
                <a:latin typeface="+mn-lt"/>
              </a:rPr>
              <a:t> Technik </a:t>
            </a:r>
            <a:r>
              <a:rPr lang="en-US" sz="1400" baseline="0" dirty="0" err="1">
                <a:latin typeface="+mn-lt"/>
              </a:rPr>
              <a:t>für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Ihr</a:t>
            </a:r>
            <a:r>
              <a:rPr lang="en-US" sz="1400" baseline="0" dirty="0">
                <a:latin typeface="+mn-lt"/>
              </a:rPr>
              <a:t> Team </a:t>
            </a:r>
            <a:r>
              <a:rPr lang="de-DE" sz="1400" b="0" i="0" baseline="0" dirty="0">
                <a:latin typeface="+mn-lt"/>
              </a:rPr>
              <a:t>— Ihre Besucher verstehen es sofort und genießen das Erlebnis.</a:t>
            </a:r>
            <a:endParaRPr lang="ru-UA" sz="1400" b="0" baseline="0" dirty="0">
              <a:latin typeface="+mn-lt"/>
            </a:endParaRPr>
          </a:p>
        </p:txBody>
      </p:sp>
      <p:cxnSp>
        <p:nvCxnSpPr>
          <p:cNvPr id="28" name="Пряма сполучна лінія 27">
            <a:extLst>
              <a:ext uri="{FF2B5EF4-FFF2-40B4-BE49-F238E27FC236}">
                <a16:creationId xmlns:a16="http://schemas.microsoft.com/office/drawing/2014/main" id="{89C50B31-1DF5-4C93-83EE-671931049ADF}"/>
              </a:ext>
            </a:extLst>
          </p:cNvPr>
          <p:cNvCxnSpPr>
            <a:cxnSpLocks/>
          </p:cNvCxnSpPr>
          <p:nvPr userDrawn="1"/>
        </p:nvCxnSpPr>
        <p:spPr>
          <a:xfrm>
            <a:off x="1270535" y="3168397"/>
            <a:ext cx="2415941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 сполучна лінія 29">
            <a:extLst>
              <a:ext uri="{FF2B5EF4-FFF2-40B4-BE49-F238E27FC236}">
                <a16:creationId xmlns:a16="http://schemas.microsoft.com/office/drawing/2014/main" id="{06525717-8C40-471C-BD4C-4BC8E11842A9}"/>
              </a:ext>
            </a:extLst>
          </p:cNvPr>
          <p:cNvCxnSpPr>
            <a:cxnSpLocks/>
          </p:cNvCxnSpPr>
          <p:nvPr userDrawn="1"/>
        </p:nvCxnSpPr>
        <p:spPr>
          <a:xfrm>
            <a:off x="1270535" y="4105726"/>
            <a:ext cx="2415941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0D9953E-CFDB-4488-8AA6-B3E0D25B675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99" y="1745257"/>
            <a:ext cx="3891070" cy="315064"/>
          </a:xfrm>
          <a:prstGeom prst="rect">
            <a:avLst/>
          </a:prstGeom>
        </p:spPr>
      </p:pic>
      <p:sp>
        <p:nvSpPr>
          <p:cNvPr id="4" name="IMG_KIOSK_SCREENSHOT">
            <a:extLst>
              <a:ext uri="{FF2B5EF4-FFF2-40B4-BE49-F238E27FC236}">
                <a16:creationId xmlns:a16="http://schemas.microsoft.com/office/drawing/2014/main" id="{6A6D618D-2069-7834-6055-EC4E9C1244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4800" y="424800"/>
            <a:ext cx="5605200" cy="3034800"/>
          </a:xfrm>
          <a:prstGeom prst="roundRect">
            <a:avLst>
              <a:gd name="adj" fmla="val 7132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14" name="IMG_USER_FLOW_CARD_2">
            <a:extLst>
              <a:ext uri="{FF2B5EF4-FFF2-40B4-BE49-F238E27FC236}">
                <a16:creationId xmlns:a16="http://schemas.microsoft.com/office/drawing/2014/main" id="{3DE37252-17F2-A18D-83D1-E1A2DE474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219743">
            <a:off x="8550341" y="3868200"/>
            <a:ext cx="3356273" cy="2084400"/>
          </a:xfrm>
          <a:prstGeom prst="roundRect">
            <a:avLst>
              <a:gd name="adj" fmla="val 8784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12" name="IMG_USER_FLOW_CARD_1">
            <a:extLst>
              <a:ext uri="{FF2B5EF4-FFF2-40B4-BE49-F238E27FC236}">
                <a16:creationId xmlns:a16="http://schemas.microsoft.com/office/drawing/2014/main" id="{8AD5BAB3-08B1-3939-1F4E-FAD9F05984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21128070">
            <a:off x="5432891" y="3812518"/>
            <a:ext cx="3369990" cy="2097212"/>
          </a:xfrm>
          <a:prstGeom prst="roundRect">
            <a:avLst>
              <a:gd name="adj" fmla="val 10735"/>
            </a:avLst>
          </a:prstGeom>
        </p:spPr>
        <p:txBody>
          <a:bodyPr/>
          <a:lstStyle/>
          <a:p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12824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6_LOCAL_MO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_MOTIF_HEADLINE">
            <a:extLst>
              <a:ext uri="{FF2B5EF4-FFF2-40B4-BE49-F238E27FC236}">
                <a16:creationId xmlns:a16="http://schemas.microsoft.com/office/drawing/2014/main" id="{36C30D00-93A3-4E22-8A60-31A066430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382" y="336187"/>
            <a:ext cx="11026810" cy="530001"/>
          </a:xfrm>
        </p:spPr>
        <p:txBody>
          <a:bodyPr>
            <a:normAutofit/>
          </a:bodyPr>
          <a:lstStyle>
            <a:lvl1pPr algn="l">
              <a:buNone/>
              <a:defRPr sz="2800" b="1" baseline="0">
                <a:solidFill>
                  <a:srgbClr val="231F20"/>
                </a:solidFill>
                <a:latin typeface="+mj-lt"/>
              </a:defRPr>
            </a:lvl1pPr>
            <a:lvl2pPr>
              <a:buNone/>
              <a:defRPr sz="2480" baseline="0">
                <a:solidFill>
                  <a:srgbClr val="231F20"/>
                </a:solidFill>
              </a:defRPr>
            </a:lvl2pPr>
            <a:lvl3pPr>
              <a:buNone/>
              <a:defRPr sz="2480" baseline="0">
                <a:solidFill>
                  <a:srgbClr val="231F20"/>
                </a:solidFill>
              </a:defRPr>
            </a:lvl3pPr>
            <a:lvl4pPr>
              <a:buNone/>
              <a:defRPr sz="2480" baseline="0">
                <a:solidFill>
                  <a:srgbClr val="231F20"/>
                </a:solidFill>
              </a:defRPr>
            </a:lvl4pPr>
            <a:lvl5pPr>
              <a:buNone/>
              <a:defRPr sz="2480" baseline="0">
                <a:solidFill>
                  <a:srgbClr val="231F20"/>
                </a:solidFill>
              </a:defRPr>
            </a:lvl5pPr>
          </a:lstStyle>
          <a:p>
            <a:pPr lvl="0"/>
            <a:r>
              <a:rPr lang="de-DE" dirty="0"/>
              <a:t>Jede Karte ist ein Unikat </a:t>
            </a:r>
            <a:r>
              <a:rPr lang="de-DE" sz="2800" b="1" baseline="0" dirty="0">
                <a:latin typeface="Helvetica Neue" panose="02000806000000020004" pitchFamily="2"/>
              </a:rPr>
              <a:t>—</a:t>
            </a:r>
            <a:r>
              <a:rPr lang="de-DE" dirty="0"/>
              <a:t> und ein Grund zum Teilen.</a:t>
            </a:r>
            <a:endParaRPr lang="uk-UA" dirty="0"/>
          </a:p>
        </p:txBody>
      </p:sp>
      <p:sp>
        <p:nvSpPr>
          <p:cNvPr id="15" name="TXT_MOTIF_SUBHEADLINE">
            <a:extLst>
              <a:ext uri="{FF2B5EF4-FFF2-40B4-BE49-F238E27FC236}">
                <a16:creationId xmlns:a16="http://schemas.microsoft.com/office/drawing/2014/main" id="{5D94B055-A168-5625-12D4-2D458A5523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883" y="1175266"/>
            <a:ext cx="10466338" cy="289273"/>
          </a:xfrm>
        </p:spPr>
        <p:txBody>
          <a:bodyPr>
            <a:noAutofit/>
          </a:bodyPr>
          <a:lstStyle>
            <a:lvl1pPr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1430" baseline="0">
                <a:solidFill>
                  <a:srgbClr val="231F20"/>
                </a:solidFill>
              </a:defRPr>
            </a:lvl2pPr>
            <a:lvl3pPr>
              <a:buNone/>
              <a:defRPr sz="1430" baseline="0">
                <a:solidFill>
                  <a:srgbClr val="231F20"/>
                </a:solidFill>
              </a:defRPr>
            </a:lvl3pPr>
            <a:lvl4pPr>
              <a:buNone/>
              <a:defRPr sz="1430" baseline="0">
                <a:solidFill>
                  <a:srgbClr val="231F20"/>
                </a:solidFill>
              </a:defRPr>
            </a:lvl4pPr>
            <a:lvl5pPr>
              <a:buNone/>
              <a:defRPr sz="1430" baseline="0">
                <a:solidFill>
                  <a:srgbClr val="231F20"/>
                </a:solidFill>
              </a:defRPr>
            </a:lvl5pPr>
          </a:lstStyle>
          <a:p>
            <a:pPr lvl="0"/>
            <a:r>
              <a:rPr lang="de-DE" dirty="0"/>
              <a:t>      Ein Event. Mehrere Erlebniswelten. Jedes Motiv erzählt eine eigene Geschichte – perfekt abgestimmt auf Ihre Veranstaltung.</a:t>
            </a:r>
            <a:endParaRPr lang="uk-UA" dirty="0"/>
          </a:p>
        </p:txBody>
      </p:sp>
      <p:sp>
        <p:nvSpPr>
          <p:cNvPr id="25" name="TXT_MOTIF_1_NAME">
            <a:extLst>
              <a:ext uri="{FF2B5EF4-FFF2-40B4-BE49-F238E27FC236}">
                <a16:creationId xmlns:a16="http://schemas.microsoft.com/office/drawing/2014/main" id="{C962E585-BC6A-437F-56ED-9EBF602855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9903" y="2828323"/>
            <a:ext cx="1498910" cy="376745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Der gestiefelte Kater</a:t>
            </a:r>
            <a:endParaRPr lang="en-US" dirty="0"/>
          </a:p>
        </p:txBody>
      </p:sp>
      <p:sp>
        <p:nvSpPr>
          <p:cNvPr id="26" name="TXT_MOTIF_2_NAME">
            <a:extLst>
              <a:ext uri="{FF2B5EF4-FFF2-40B4-BE49-F238E27FC236}">
                <a16:creationId xmlns:a16="http://schemas.microsoft.com/office/drawing/2014/main" id="{8D7654FD-3710-64A6-21C5-42749B6A42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5940" y="4347571"/>
            <a:ext cx="1486834" cy="378000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Nussknacker</a:t>
            </a:r>
            <a:endParaRPr lang="en-US" dirty="0"/>
          </a:p>
        </p:txBody>
      </p:sp>
      <p:sp>
        <p:nvSpPr>
          <p:cNvPr id="27" name="TXT_MOTIF_3_NAME">
            <a:extLst>
              <a:ext uri="{FF2B5EF4-FFF2-40B4-BE49-F238E27FC236}">
                <a16:creationId xmlns:a16="http://schemas.microsoft.com/office/drawing/2014/main" id="{7241013F-BB8B-DAFA-7457-EB1A73F821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9903" y="5703813"/>
            <a:ext cx="1498909" cy="378000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Rotkäppchen</a:t>
            </a:r>
            <a:endParaRPr lang="en-US" dirty="0"/>
          </a:p>
        </p:txBody>
      </p:sp>
      <p:sp>
        <p:nvSpPr>
          <p:cNvPr id="31" name="IMG_MOTIF_1_PHOTO">
            <a:extLst>
              <a:ext uri="{FF2B5EF4-FFF2-40B4-BE49-F238E27FC236}">
                <a16:creationId xmlns:a16="http://schemas.microsoft.com/office/drawing/2014/main" id="{62B219E3-1E42-91D4-A426-7F00E974FDF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110850" y="2180457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7" name="IMG_MOTIF_2_PHOTO">
            <a:extLst>
              <a:ext uri="{FF2B5EF4-FFF2-40B4-BE49-F238E27FC236}">
                <a16:creationId xmlns:a16="http://schemas.microsoft.com/office/drawing/2014/main" id="{5DB5C86A-F711-1BC6-EFEB-670FEDE7812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110283" y="3550320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43" name="IMG_MOTIF_3_PHOTO">
            <a:extLst>
              <a:ext uri="{FF2B5EF4-FFF2-40B4-BE49-F238E27FC236}">
                <a16:creationId xmlns:a16="http://schemas.microsoft.com/office/drawing/2014/main" id="{1AF4C320-E0F4-8D35-AB7E-39ABA552054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110850" y="4940101"/>
            <a:ext cx="2469600" cy="1133078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FBAF1B-7D8C-4DF1-9D82-3CB3717C5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83" y="804075"/>
            <a:ext cx="4266000" cy="40538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D8FA7F-4EA6-47CF-B7C8-4CB8160C40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54" y="2155212"/>
            <a:ext cx="603617" cy="608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0C58AC4-B3B2-4CE1-BA0D-CD0AE284A4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64" y="3628043"/>
            <a:ext cx="666196" cy="67128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E7F3AA5-BCE0-46F8-9654-1B70AEE96C8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54" y="4962061"/>
            <a:ext cx="673130" cy="678268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FCBB66A-F126-425F-B44C-C4B0EF2CC1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631" y="1895950"/>
            <a:ext cx="1648974" cy="156697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EDC9C9C4-0A87-4E2C-9D51-53D9782FE1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052" y="1899336"/>
            <a:ext cx="1648974" cy="156697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B972D92D-A59A-4367-ADE7-AFD1183A7F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83" y="1861436"/>
            <a:ext cx="1648974" cy="156697"/>
          </a:xfrm>
          <a:prstGeom prst="rect">
            <a:avLst/>
          </a:prstGeom>
        </p:spPr>
      </p:pic>
      <p:cxnSp>
        <p:nvCxnSpPr>
          <p:cNvPr id="49" name="Пряма сполучна лінія 48">
            <a:extLst>
              <a:ext uri="{FF2B5EF4-FFF2-40B4-BE49-F238E27FC236}">
                <a16:creationId xmlns:a16="http://schemas.microsoft.com/office/drawing/2014/main" id="{8E21FF31-A4C9-41D8-A9AD-D5980D36AB48}"/>
              </a:ext>
            </a:extLst>
          </p:cNvPr>
          <p:cNvCxnSpPr>
            <a:cxnSpLocks/>
          </p:cNvCxnSpPr>
          <p:nvPr userDrawn="1"/>
        </p:nvCxnSpPr>
        <p:spPr>
          <a:xfrm>
            <a:off x="0" y="35686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 сполучна лінія 49">
            <a:extLst>
              <a:ext uri="{FF2B5EF4-FFF2-40B4-BE49-F238E27FC236}">
                <a16:creationId xmlns:a16="http://schemas.microsoft.com/office/drawing/2014/main" id="{40E649A7-7BD8-427C-9856-66DB033E6761}"/>
              </a:ext>
            </a:extLst>
          </p:cNvPr>
          <p:cNvCxnSpPr>
            <a:cxnSpLocks/>
          </p:cNvCxnSpPr>
          <p:nvPr userDrawn="1"/>
        </p:nvCxnSpPr>
        <p:spPr>
          <a:xfrm>
            <a:off x="0" y="49582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 сполучна лінія 50">
            <a:extLst>
              <a:ext uri="{FF2B5EF4-FFF2-40B4-BE49-F238E27FC236}">
                <a16:creationId xmlns:a16="http://schemas.microsoft.com/office/drawing/2014/main" id="{F9D7FB6D-69B3-4B30-A5E9-372D5C21C006}"/>
              </a:ext>
            </a:extLst>
          </p:cNvPr>
          <p:cNvCxnSpPr/>
          <p:nvPr userDrawn="1"/>
        </p:nvCxnSpPr>
        <p:spPr>
          <a:xfrm>
            <a:off x="-34637" y="636754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A090E21-FA57-4279-8052-31904708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70" y="6187183"/>
            <a:ext cx="5626067" cy="578766"/>
          </a:xfrm>
          <a:prstGeom prst="rect">
            <a:avLst/>
          </a:prstGeom>
        </p:spPr>
      </p:pic>
      <p:sp>
        <p:nvSpPr>
          <p:cNvPr id="5" name="TXT_THEME_WORLD_NAME">
            <a:extLst>
              <a:ext uri="{FF2B5EF4-FFF2-40B4-BE49-F238E27FC236}">
                <a16:creationId xmlns:a16="http://schemas.microsoft.com/office/drawing/2014/main" id="{2CBEDC59-1377-552D-8231-30A596D197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883" y="1668909"/>
            <a:ext cx="1796967" cy="299958"/>
          </a:xfrm>
        </p:spPr>
        <p:txBody>
          <a:bodyPr>
            <a:normAutofit/>
          </a:bodyPr>
          <a:lstStyle>
            <a:lvl1pPr>
              <a:buNone/>
              <a:defRPr sz="1400" b="1" baseline="0">
                <a:latin typeface="+mj-lt"/>
                <a:cs typeface="Arial" panose="020B0604020202020204" pitchFamily="34" charset="0"/>
              </a:defRPr>
            </a:lvl1pPr>
            <a:lvl2pPr>
              <a:buNone/>
              <a:defRPr sz="1800" baseline="0"/>
            </a:lvl2pPr>
            <a:lvl3pPr>
              <a:buNone/>
              <a:defRPr sz="1800" baseline="0"/>
            </a:lvl3pPr>
            <a:lvl4pPr>
              <a:buNone/>
              <a:defRPr sz="1800" baseline="0"/>
            </a:lvl4pPr>
            <a:lvl5pPr>
              <a:buNone/>
              <a:defRPr sz="1800" baseline="0"/>
            </a:lvl5pPr>
          </a:lstStyle>
          <a:p>
            <a:pPr lvl="0"/>
            <a:r>
              <a:rPr lang="en-US" dirty="0">
                <a:latin typeface="+mj-lt"/>
              </a:rPr>
              <a:t>M</a:t>
            </a:r>
            <a:r>
              <a:rPr lang="de-DE" dirty="0">
                <a:latin typeface="+mj-lt"/>
              </a:rPr>
              <a:t>ÄRCHENGASSE</a:t>
            </a:r>
            <a:endParaRPr lang="uk-UA" dirty="0">
              <a:latin typeface="Bahnschrift Condensed" panose="020B0502040204020203" pitchFamily="34" charset="0"/>
            </a:endParaRPr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11D0F72D-4A93-BD09-899F-BEB0186A31FD}"/>
              </a:ext>
            </a:extLst>
          </p:cNvPr>
          <p:cNvSpPr/>
          <p:nvPr userDrawn="1"/>
        </p:nvSpPr>
        <p:spPr>
          <a:xfrm>
            <a:off x="1943100" y="6296025"/>
            <a:ext cx="4562475" cy="365895"/>
          </a:xfrm>
          <a:prstGeom prst="rect">
            <a:avLst/>
          </a:prstGeom>
          <a:solidFill>
            <a:srgbClr val="0A1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UA" dirty="0"/>
          </a:p>
        </p:txBody>
      </p:sp>
      <p:sp>
        <p:nvSpPr>
          <p:cNvPr id="8" name="TXT_MOTIF_STATS_CALLOUT">
            <a:extLst>
              <a:ext uri="{FF2B5EF4-FFF2-40B4-BE49-F238E27FC236}">
                <a16:creationId xmlns:a16="http://schemas.microsoft.com/office/drawing/2014/main" id="{F99F8F7A-2206-DE4D-68EE-D01D56E2437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32000" y="6296025"/>
            <a:ext cx="4473575" cy="387350"/>
          </a:xfrm>
        </p:spPr>
        <p:txBody>
          <a:bodyPr/>
          <a:lstStyle>
            <a:lvl1pPr>
              <a:buNone/>
              <a:defRPr sz="1200" baseline="0">
                <a:solidFill>
                  <a:srgbClr val="F2F0EE"/>
                </a:solidFill>
              </a:defRPr>
            </a:lvl1pPr>
            <a:lvl2pPr>
              <a:buNone/>
              <a:defRPr sz="1200" baseline="0">
                <a:solidFill>
                  <a:srgbClr val="F2F0EE"/>
                </a:solidFill>
              </a:defRPr>
            </a:lvl2pPr>
            <a:lvl3pPr>
              <a:buNone/>
              <a:defRPr sz="1200" baseline="0">
                <a:solidFill>
                  <a:srgbClr val="F2F0EE"/>
                </a:solidFill>
              </a:defRPr>
            </a:lvl3pPr>
            <a:lvl4pPr>
              <a:buNone/>
              <a:defRPr sz="1200" baseline="0">
                <a:solidFill>
                  <a:srgbClr val="F2F0EE"/>
                </a:solidFill>
              </a:defRPr>
            </a:lvl4pPr>
            <a:lvl5pPr>
              <a:buNone/>
              <a:defRPr sz="1200" baseline="0">
                <a:solidFill>
                  <a:srgbClr val="F2F0EE"/>
                </a:solidFill>
              </a:defRPr>
            </a:lvl5pPr>
          </a:lstStyle>
          <a:p>
            <a:pPr lvl="0"/>
            <a:endParaRPr lang="ru-UA" dirty="0"/>
          </a:p>
        </p:txBody>
      </p:sp>
      <p:sp>
        <p:nvSpPr>
          <p:cNvPr id="7" name="Fotokarte">
            <a:extLst>
              <a:ext uri="{FF2B5EF4-FFF2-40B4-BE49-F238E27FC236}">
                <a16:creationId xmlns:a16="http://schemas.microsoft.com/office/drawing/2014/main" id="{CD843CBB-09B6-D6B9-7C55-4CA6DF7A8335}"/>
              </a:ext>
            </a:extLst>
          </p:cNvPr>
          <p:cNvSpPr txBox="1"/>
          <p:nvPr userDrawn="1"/>
        </p:nvSpPr>
        <p:spPr>
          <a:xfrm>
            <a:off x="2768590" y="1668045"/>
            <a:ext cx="1063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+mn-lt"/>
              </a:rPr>
              <a:t>Fotokarte</a:t>
            </a:r>
            <a:endParaRPr lang="ru-UA" sz="1400" dirty="0">
              <a:latin typeface="+mn-lt"/>
            </a:endParaRPr>
          </a:p>
        </p:txBody>
      </p:sp>
      <p:sp>
        <p:nvSpPr>
          <p:cNvPr id="13" name="Hintergrund">
            <a:extLst>
              <a:ext uri="{FF2B5EF4-FFF2-40B4-BE49-F238E27FC236}">
                <a16:creationId xmlns:a16="http://schemas.microsoft.com/office/drawing/2014/main" id="{701B1BC5-7F36-CE1A-12E8-80838B5E0A19}"/>
              </a:ext>
            </a:extLst>
          </p:cNvPr>
          <p:cNvSpPr txBox="1"/>
          <p:nvPr userDrawn="1"/>
        </p:nvSpPr>
        <p:spPr>
          <a:xfrm>
            <a:off x="5829787" y="1668045"/>
            <a:ext cx="1116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+mn-lt"/>
              </a:rPr>
              <a:t>Hintergrund</a:t>
            </a:r>
            <a:endParaRPr lang="ru-UA" sz="1400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3E4553-E7CA-E1AC-F058-678F93069140}"/>
              </a:ext>
            </a:extLst>
          </p:cNvPr>
          <p:cNvSpPr txBox="1"/>
          <p:nvPr userDrawn="1"/>
        </p:nvSpPr>
        <p:spPr>
          <a:xfrm>
            <a:off x="9041203" y="1660616"/>
            <a:ext cx="1013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AR-Maske</a:t>
            </a:r>
            <a:endParaRPr lang="ru-UA" sz="1400" dirty="0">
              <a:latin typeface="+mn-lt"/>
            </a:endParaRPr>
          </a:p>
        </p:txBody>
      </p:sp>
      <p:sp>
        <p:nvSpPr>
          <p:cNvPr id="2" name="IMG_MOTIF_1_BACKGROUND">
            <a:extLst>
              <a:ext uri="{FF2B5EF4-FFF2-40B4-BE49-F238E27FC236}">
                <a16:creationId xmlns:a16="http://schemas.microsoft.com/office/drawing/2014/main" id="{C1C7C607-F40A-4288-1803-FE13FBC9EA1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17028" y="2180457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" name="IMG_MOTIF_2_BACKGROUND">
            <a:extLst>
              <a:ext uri="{FF2B5EF4-FFF2-40B4-BE49-F238E27FC236}">
                <a16:creationId xmlns:a16="http://schemas.microsoft.com/office/drawing/2014/main" id="{601C44C2-596C-4C37-90E6-8B19D1644B8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16461" y="3550320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9" name="IMG_MOTIF_3_BACKGROUND">
            <a:extLst>
              <a:ext uri="{FF2B5EF4-FFF2-40B4-BE49-F238E27FC236}">
                <a16:creationId xmlns:a16="http://schemas.microsoft.com/office/drawing/2014/main" id="{FEC25E54-36D8-43E7-584C-8D6139D8A2C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117028" y="4940101"/>
            <a:ext cx="2469600" cy="1133078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10" name="IMG_MOTIF_1_MASK">
            <a:extLst>
              <a:ext uri="{FF2B5EF4-FFF2-40B4-BE49-F238E27FC236}">
                <a16:creationId xmlns:a16="http://schemas.microsoft.com/office/drawing/2014/main" id="{A88FA664-AD8A-B095-6A1F-D5DA755A0C7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311188" y="2185955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14" name="IMG_MOTIF_2_MASK">
            <a:extLst>
              <a:ext uri="{FF2B5EF4-FFF2-40B4-BE49-F238E27FC236}">
                <a16:creationId xmlns:a16="http://schemas.microsoft.com/office/drawing/2014/main" id="{8A126815-FB23-EC7F-6473-6B52FFDB746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10621" y="3555818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17" name="IMG_MOTIF_3_MASK">
            <a:extLst>
              <a:ext uri="{FF2B5EF4-FFF2-40B4-BE49-F238E27FC236}">
                <a16:creationId xmlns:a16="http://schemas.microsoft.com/office/drawing/2014/main" id="{880ACE10-C321-57BF-C1FE-0D8B6B31E3E0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311188" y="4945599"/>
            <a:ext cx="2469600" cy="1133078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93482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7_BESTSELL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">
            <a:extLst>
              <a:ext uri="{FF2B5EF4-FFF2-40B4-BE49-F238E27FC236}">
                <a16:creationId xmlns:a16="http://schemas.microsoft.com/office/drawing/2014/main" id="{01F38D04-D37E-E6CE-FF6F-492308578B48}"/>
              </a:ext>
            </a:extLst>
          </p:cNvPr>
          <p:cNvSpPr txBox="1"/>
          <p:nvPr userDrawn="1"/>
        </p:nvSpPr>
        <p:spPr>
          <a:xfrm>
            <a:off x="328265" y="430103"/>
            <a:ext cx="10326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31F20"/>
                </a:solidFill>
                <a:latin typeface="+mj-lt"/>
              </a:rPr>
              <a:t>Das </a:t>
            </a:r>
            <a:r>
              <a:rPr lang="en-US" sz="2800" b="1" dirty="0" err="1">
                <a:solidFill>
                  <a:srgbClr val="231F20"/>
                </a:solidFill>
                <a:latin typeface="+mj-lt"/>
              </a:rPr>
              <a:t>nehmen</a:t>
            </a:r>
            <a:r>
              <a:rPr lang="en-US" sz="28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231F20"/>
                </a:solidFill>
                <a:latin typeface="+mj-lt"/>
              </a:rPr>
              <a:t>Ihre</a:t>
            </a:r>
            <a:r>
              <a:rPr lang="en-US" sz="28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231F20"/>
                </a:solidFill>
                <a:latin typeface="+mj-lt"/>
              </a:rPr>
              <a:t>Besucher</a:t>
            </a:r>
            <a:r>
              <a:rPr lang="en-US" sz="28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231F20"/>
                </a:solidFill>
                <a:latin typeface="+mj-lt"/>
              </a:rPr>
              <a:t>mit</a:t>
            </a:r>
            <a:r>
              <a:rPr lang="en-US" sz="28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de-DE" sz="2800" b="1" i="0" baseline="0" dirty="0">
                <a:latin typeface="+mj-lt"/>
              </a:rPr>
              <a:t>—</a:t>
            </a:r>
            <a:r>
              <a:rPr lang="en-US" sz="28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de-DE" sz="2800" b="1" dirty="0">
                <a:solidFill>
                  <a:srgbClr val="231F20"/>
                </a:solidFill>
                <a:latin typeface="+mj-lt"/>
              </a:rPr>
              <a:t>personalisiert, sofort, teilbar.</a:t>
            </a:r>
            <a:endParaRPr lang="ru-UA" sz="2800" b="1" dirty="0">
              <a:solidFill>
                <a:srgbClr val="231F20"/>
              </a:solidFill>
              <a:latin typeface="+mj-lt"/>
            </a:endParaRPr>
          </a:p>
        </p:txBody>
      </p:sp>
      <p:sp>
        <p:nvSpPr>
          <p:cNvPr id="8" name="Підзаголовок">
            <a:extLst>
              <a:ext uri="{FF2B5EF4-FFF2-40B4-BE49-F238E27FC236}">
                <a16:creationId xmlns:a16="http://schemas.microsoft.com/office/drawing/2014/main" id="{048AC530-5BE1-CEEA-3695-BB63B95ACEE5}"/>
              </a:ext>
            </a:extLst>
          </p:cNvPr>
          <p:cNvSpPr txBox="1"/>
          <p:nvPr userDrawn="1"/>
        </p:nvSpPr>
        <p:spPr>
          <a:xfrm>
            <a:off x="388800" y="1093081"/>
            <a:ext cx="9935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Jedes Motiv wird individuell passend zu Ihrem Event gestaltet – Ihre Besucher werden Teil Ihrer Erlebniswelt. Das teilen sie.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6549A9C-5BDE-4893-84EB-311EACA77A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810243"/>
            <a:ext cx="5709797" cy="3476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191FEBA-3EEC-41C9-86F5-0E040BB42C7B}"/>
              </a:ext>
            </a:extLst>
          </p:cNvPr>
          <p:cNvSpPr txBox="1"/>
          <p:nvPr userDrawn="1"/>
        </p:nvSpPr>
        <p:spPr>
          <a:xfrm>
            <a:off x="388800" y="1439761"/>
            <a:ext cx="1921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400" b="1" dirty="0">
                <a:latin typeface="+mj-lt"/>
                <a:cs typeface="Calibri Light" panose="020F0302020204030204" pitchFamily="34" charset="0"/>
              </a:rPr>
              <a:t>KAISER-OTTO-PFALZ</a:t>
            </a:r>
            <a:endParaRPr lang="uk-UA" sz="1400" b="1" dirty="0">
              <a:latin typeface="+mj-lt"/>
              <a:cs typeface="Calibri Light" panose="020F0302020204030204" pitchFamily="34" charset="0"/>
            </a:endParaRPr>
          </a:p>
        </p:txBody>
      </p:sp>
      <p:cxnSp>
        <p:nvCxnSpPr>
          <p:cNvPr id="42" name="Пряма сполучна лінія 41">
            <a:extLst>
              <a:ext uri="{FF2B5EF4-FFF2-40B4-BE49-F238E27FC236}">
                <a16:creationId xmlns:a16="http://schemas.microsoft.com/office/drawing/2014/main" id="{4772F8A0-D1C3-41BE-97E6-AAB275BED31B}"/>
              </a:ext>
            </a:extLst>
          </p:cNvPr>
          <p:cNvCxnSpPr/>
          <p:nvPr userDrawn="1"/>
        </p:nvCxnSpPr>
        <p:spPr>
          <a:xfrm>
            <a:off x="-34637" y="636754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 сполучна лінія 5">
            <a:extLst>
              <a:ext uri="{FF2B5EF4-FFF2-40B4-BE49-F238E27FC236}">
                <a16:creationId xmlns:a16="http://schemas.microsoft.com/office/drawing/2014/main" id="{156CF672-603F-6290-B868-CA45644A8935}"/>
              </a:ext>
            </a:extLst>
          </p:cNvPr>
          <p:cNvCxnSpPr>
            <a:cxnSpLocks/>
          </p:cNvCxnSpPr>
          <p:nvPr userDrawn="1"/>
        </p:nvCxnSpPr>
        <p:spPr>
          <a:xfrm>
            <a:off x="0" y="35686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 сполучна лінія 45">
            <a:extLst>
              <a:ext uri="{FF2B5EF4-FFF2-40B4-BE49-F238E27FC236}">
                <a16:creationId xmlns:a16="http://schemas.microsoft.com/office/drawing/2014/main" id="{993B32CA-35EE-86BA-9089-4E7ACF991CEF}"/>
              </a:ext>
            </a:extLst>
          </p:cNvPr>
          <p:cNvCxnSpPr>
            <a:cxnSpLocks/>
          </p:cNvCxnSpPr>
          <p:nvPr userDrawn="1"/>
        </p:nvCxnSpPr>
        <p:spPr>
          <a:xfrm>
            <a:off x="0" y="49582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XT_MOTIF_1_NAME">
            <a:extLst>
              <a:ext uri="{FF2B5EF4-FFF2-40B4-BE49-F238E27FC236}">
                <a16:creationId xmlns:a16="http://schemas.microsoft.com/office/drawing/2014/main" id="{DE461774-3860-8B8E-9C32-FCA984185B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8188" y="2845002"/>
            <a:ext cx="1498910" cy="376745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Der gestiefelte Kater</a:t>
            </a:r>
            <a:endParaRPr lang="en-US" dirty="0"/>
          </a:p>
        </p:txBody>
      </p:sp>
      <p:sp>
        <p:nvSpPr>
          <p:cNvPr id="3" name="TXT_MOTIF_2_NAME">
            <a:extLst>
              <a:ext uri="{FF2B5EF4-FFF2-40B4-BE49-F238E27FC236}">
                <a16:creationId xmlns:a16="http://schemas.microsoft.com/office/drawing/2014/main" id="{EF2DF21F-D025-4CA4-06C6-6D794CF47B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4226" y="4353237"/>
            <a:ext cx="1486834" cy="378000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Nussknacker</a:t>
            </a:r>
            <a:endParaRPr lang="en-US" dirty="0"/>
          </a:p>
        </p:txBody>
      </p:sp>
      <p:sp>
        <p:nvSpPr>
          <p:cNvPr id="5" name="TXT_MOTIF_3_NAME">
            <a:extLst>
              <a:ext uri="{FF2B5EF4-FFF2-40B4-BE49-F238E27FC236}">
                <a16:creationId xmlns:a16="http://schemas.microsoft.com/office/drawing/2014/main" id="{D3D3D0A6-DFE3-7FEC-B0D5-97D8AEB3B3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188" y="5677305"/>
            <a:ext cx="1498909" cy="378000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Rotkäppchen</a:t>
            </a:r>
            <a:endParaRPr lang="en-US" dirty="0"/>
          </a:p>
        </p:txBody>
      </p:sp>
      <p:sp>
        <p:nvSpPr>
          <p:cNvPr id="12" name="IMG_MOTIF_1_PHOTO">
            <a:extLst>
              <a:ext uri="{FF2B5EF4-FFF2-40B4-BE49-F238E27FC236}">
                <a16:creationId xmlns:a16="http://schemas.microsoft.com/office/drawing/2014/main" id="{943C7D69-B528-13EF-41CE-3377B358AEA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110850" y="2180457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13" name="IMG_MOTIF_2_PHOTO">
            <a:extLst>
              <a:ext uri="{FF2B5EF4-FFF2-40B4-BE49-F238E27FC236}">
                <a16:creationId xmlns:a16="http://schemas.microsoft.com/office/drawing/2014/main" id="{250C0FAE-4E1B-1DF8-B4C4-2638C2DDF68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110283" y="3550320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14" name="IMG_MOTIF_3_PHOTO">
            <a:extLst>
              <a:ext uri="{FF2B5EF4-FFF2-40B4-BE49-F238E27FC236}">
                <a16:creationId xmlns:a16="http://schemas.microsoft.com/office/drawing/2014/main" id="{2AAEF6DF-A5A4-62AF-4E0D-7D09C98AACC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110850" y="4940101"/>
            <a:ext cx="2469600" cy="1133078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81ECB0F-BA5F-5C3B-A418-02AE06D3D8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54" y="2155212"/>
            <a:ext cx="603617" cy="608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B839315-CA7D-54F7-6DD4-A196FD0BB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64" y="3628043"/>
            <a:ext cx="666196" cy="67128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F48AECF-E252-E68E-7F21-4B9CDEDB267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54" y="4962061"/>
            <a:ext cx="673130" cy="67826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7A5AE95-2655-FECF-74F8-C12B687C19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631" y="1895950"/>
            <a:ext cx="1648974" cy="15669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6086A4A-FE5A-0C04-F9D8-3F723C76E6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052" y="1899336"/>
            <a:ext cx="1648974" cy="156697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960A796-E510-EAE5-B753-8FB476A17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83" y="1861436"/>
            <a:ext cx="1648974" cy="156697"/>
          </a:xfrm>
          <a:prstGeom prst="rect">
            <a:avLst/>
          </a:prstGeom>
        </p:spPr>
      </p:pic>
      <p:cxnSp>
        <p:nvCxnSpPr>
          <p:cNvPr id="27" name="Пряма сполучна лінія 26">
            <a:extLst>
              <a:ext uri="{FF2B5EF4-FFF2-40B4-BE49-F238E27FC236}">
                <a16:creationId xmlns:a16="http://schemas.microsoft.com/office/drawing/2014/main" id="{D3F31840-CADF-CB5D-DBB5-9F06023090AA}"/>
              </a:ext>
            </a:extLst>
          </p:cNvPr>
          <p:cNvCxnSpPr>
            <a:cxnSpLocks/>
          </p:cNvCxnSpPr>
          <p:nvPr userDrawn="1"/>
        </p:nvCxnSpPr>
        <p:spPr>
          <a:xfrm>
            <a:off x="0" y="35686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 сполучна лінія 27">
            <a:extLst>
              <a:ext uri="{FF2B5EF4-FFF2-40B4-BE49-F238E27FC236}">
                <a16:creationId xmlns:a16="http://schemas.microsoft.com/office/drawing/2014/main" id="{9528EF95-F1D2-B73E-9004-B74B413C45D7}"/>
              </a:ext>
            </a:extLst>
          </p:cNvPr>
          <p:cNvCxnSpPr>
            <a:cxnSpLocks/>
          </p:cNvCxnSpPr>
          <p:nvPr userDrawn="1"/>
        </p:nvCxnSpPr>
        <p:spPr>
          <a:xfrm>
            <a:off x="0" y="49582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Fotokarte">
            <a:extLst>
              <a:ext uri="{FF2B5EF4-FFF2-40B4-BE49-F238E27FC236}">
                <a16:creationId xmlns:a16="http://schemas.microsoft.com/office/drawing/2014/main" id="{1BD054D5-5763-513B-596B-89B26B2D8F80}"/>
              </a:ext>
            </a:extLst>
          </p:cNvPr>
          <p:cNvSpPr txBox="1"/>
          <p:nvPr userDrawn="1"/>
        </p:nvSpPr>
        <p:spPr>
          <a:xfrm>
            <a:off x="2768590" y="1668045"/>
            <a:ext cx="1063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+mn-lt"/>
              </a:rPr>
              <a:t>Fotokarte</a:t>
            </a:r>
            <a:endParaRPr lang="ru-UA" sz="1400" dirty="0">
              <a:latin typeface="+mn-lt"/>
            </a:endParaRPr>
          </a:p>
        </p:txBody>
      </p:sp>
      <p:sp>
        <p:nvSpPr>
          <p:cNvPr id="30" name="Hintergrund">
            <a:extLst>
              <a:ext uri="{FF2B5EF4-FFF2-40B4-BE49-F238E27FC236}">
                <a16:creationId xmlns:a16="http://schemas.microsoft.com/office/drawing/2014/main" id="{F07E29BE-634C-1197-6BBC-4C839288C46C}"/>
              </a:ext>
            </a:extLst>
          </p:cNvPr>
          <p:cNvSpPr txBox="1"/>
          <p:nvPr userDrawn="1"/>
        </p:nvSpPr>
        <p:spPr>
          <a:xfrm>
            <a:off x="5829787" y="1668045"/>
            <a:ext cx="1116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+mn-lt"/>
              </a:rPr>
              <a:t>Hintergrund</a:t>
            </a:r>
            <a:endParaRPr lang="ru-UA" sz="1400" dirty="0">
              <a:latin typeface="+mn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C95457-B57F-B32A-B586-792E9A135CBD}"/>
              </a:ext>
            </a:extLst>
          </p:cNvPr>
          <p:cNvSpPr txBox="1"/>
          <p:nvPr userDrawn="1"/>
        </p:nvSpPr>
        <p:spPr>
          <a:xfrm>
            <a:off x="9041203" y="1660616"/>
            <a:ext cx="1013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AR-Maske</a:t>
            </a:r>
            <a:endParaRPr lang="ru-UA" sz="1400" dirty="0">
              <a:latin typeface="+mn-lt"/>
            </a:endParaRPr>
          </a:p>
        </p:txBody>
      </p:sp>
      <p:sp>
        <p:nvSpPr>
          <p:cNvPr id="33" name="IMG_MOTIF_1_BACKGROUND">
            <a:extLst>
              <a:ext uri="{FF2B5EF4-FFF2-40B4-BE49-F238E27FC236}">
                <a16:creationId xmlns:a16="http://schemas.microsoft.com/office/drawing/2014/main" id="{CAE9B40B-BE82-46EA-EFAB-C6F5B7F304B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17028" y="2180457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4" name="IMG_MOTIF_2_BACKGROUND">
            <a:extLst>
              <a:ext uri="{FF2B5EF4-FFF2-40B4-BE49-F238E27FC236}">
                <a16:creationId xmlns:a16="http://schemas.microsoft.com/office/drawing/2014/main" id="{B82DACED-D905-27B8-B4BE-E66DB93D353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16461" y="3550320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5" name="IMG_MOTIF_3_BACKGROUND">
            <a:extLst>
              <a:ext uri="{FF2B5EF4-FFF2-40B4-BE49-F238E27FC236}">
                <a16:creationId xmlns:a16="http://schemas.microsoft.com/office/drawing/2014/main" id="{1AC21B6D-1F87-E346-19B5-A522E03F59B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117028" y="4940101"/>
            <a:ext cx="2469600" cy="1133078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6" name="IMG_MOTIF_1_MASK">
            <a:extLst>
              <a:ext uri="{FF2B5EF4-FFF2-40B4-BE49-F238E27FC236}">
                <a16:creationId xmlns:a16="http://schemas.microsoft.com/office/drawing/2014/main" id="{B97204C1-0EB0-961C-BBD3-53AD328CB54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311188" y="2185955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7" name="IMG_MOTIF_2_MASK">
            <a:extLst>
              <a:ext uri="{FF2B5EF4-FFF2-40B4-BE49-F238E27FC236}">
                <a16:creationId xmlns:a16="http://schemas.microsoft.com/office/drawing/2014/main" id="{69868CBE-3AF8-C965-A93C-F9E2DE737A5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10621" y="3555818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8" name="IMG_MOTIF_3_MASK">
            <a:extLst>
              <a:ext uri="{FF2B5EF4-FFF2-40B4-BE49-F238E27FC236}">
                <a16:creationId xmlns:a16="http://schemas.microsoft.com/office/drawing/2014/main" id="{85712747-A691-E35F-B9F4-548373B15A0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311188" y="4945599"/>
            <a:ext cx="2469600" cy="1133078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59190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8_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G_OUTPUT_CARD_1">
            <a:extLst>
              <a:ext uri="{FF2B5EF4-FFF2-40B4-BE49-F238E27FC236}">
                <a16:creationId xmlns:a16="http://schemas.microsoft.com/office/drawing/2014/main" id="{948F839E-14D1-F62F-4B0E-B4386CC54B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rot="20940000">
            <a:off x="462765" y="2175888"/>
            <a:ext cx="5722575" cy="3551199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A657E984-D10A-45F4-9A34-673ED2B8B0F3}"/>
              </a:ext>
            </a:extLst>
          </p:cNvPr>
          <p:cNvCxnSpPr/>
          <p:nvPr userDrawn="1"/>
        </p:nvCxnSpPr>
        <p:spPr>
          <a:xfrm>
            <a:off x="-34637" y="636754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MG_OUTPUT_CARD_2">
            <a:extLst>
              <a:ext uri="{FF2B5EF4-FFF2-40B4-BE49-F238E27FC236}">
                <a16:creationId xmlns:a16="http://schemas.microsoft.com/office/drawing/2014/main" id="{987105A8-41B8-AB4D-0EDA-80DBD94C4D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 rot="20940000">
            <a:off x="5945345" y="722374"/>
            <a:ext cx="5722575" cy="3551199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4" name="IMG_OUTPUT_CARD_1_SMALL">
            <a:extLst>
              <a:ext uri="{FF2B5EF4-FFF2-40B4-BE49-F238E27FC236}">
                <a16:creationId xmlns:a16="http://schemas.microsoft.com/office/drawing/2014/main" id="{1CD3D768-E3EC-5FD8-665B-83DF26F0D1B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rot="20940000">
            <a:off x="4745747" y="3828799"/>
            <a:ext cx="1415499" cy="1360825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5" name="IMG_OUTPUT_CARD_2_SMALL">
            <a:extLst>
              <a:ext uri="{FF2B5EF4-FFF2-40B4-BE49-F238E27FC236}">
                <a16:creationId xmlns:a16="http://schemas.microsoft.com/office/drawing/2014/main" id="{D2A85009-D5B9-8B2B-1490-3C820612EC8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rot="20940000">
            <a:off x="10228328" y="2360218"/>
            <a:ext cx="1415499" cy="1360825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72385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9_SOCIAL_R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line">
            <a:extLst>
              <a:ext uri="{FF2B5EF4-FFF2-40B4-BE49-F238E27FC236}">
                <a16:creationId xmlns:a16="http://schemas.microsoft.com/office/drawing/2014/main" id="{B6DB5CC5-8991-97C9-24B2-159D3BDA6AC7}"/>
              </a:ext>
            </a:extLst>
          </p:cNvPr>
          <p:cNvSpPr txBox="1"/>
          <p:nvPr userDrawn="1"/>
        </p:nvSpPr>
        <p:spPr>
          <a:xfrm>
            <a:off x="795633" y="190489"/>
            <a:ext cx="53868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baseline="0" dirty="0">
                <a:latin typeface="+mj-lt"/>
              </a:rPr>
              <a:t>Organische Reichweite die</a:t>
            </a:r>
            <a:endParaRPr lang="uk-UA" sz="2800" b="1" baseline="0" dirty="0">
              <a:latin typeface="+mj-lt"/>
            </a:endParaRPr>
          </a:p>
          <a:p>
            <a:r>
              <a:rPr lang="de-DE" sz="2800" b="1" baseline="0" dirty="0">
                <a:latin typeface="+mj-lt"/>
              </a:rPr>
              <a:t>kein Werbebudget kaufen kann.</a:t>
            </a:r>
            <a:endParaRPr lang="ru-UA" sz="2800" b="1" baseline="0" dirty="0">
              <a:latin typeface="+mj-lt"/>
            </a:endParaRPr>
          </a:p>
        </p:txBody>
      </p:sp>
      <p:sp>
        <p:nvSpPr>
          <p:cNvPr id="10" name="Stat numbers">
            <a:extLst>
              <a:ext uri="{FF2B5EF4-FFF2-40B4-BE49-F238E27FC236}">
                <a16:creationId xmlns:a16="http://schemas.microsoft.com/office/drawing/2014/main" id="{0152E84B-C2AE-DD23-E6C0-E1A4E5228142}"/>
              </a:ext>
            </a:extLst>
          </p:cNvPr>
          <p:cNvSpPr txBox="1"/>
          <p:nvPr userDrawn="1"/>
        </p:nvSpPr>
        <p:spPr>
          <a:xfrm>
            <a:off x="6130636" y="971661"/>
            <a:ext cx="138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A" sz="5400" b="1" dirty="0">
                <a:latin typeface="+mj-lt"/>
                <a:cs typeface="Calibri Light" panose="020F0302020204030204" pitchFamily="34" charset="0"/>
              </a:rPr>
              <a:t>90%</a:t>
            </a:r>
            <a:endParaRPr lang="uk-UA" sz="5400" b="1" dirty="0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" name="90% label">
            <a:extLst>
              <a:ext uri="{FF2B5EF4-FFF2-40B4-BE49-F238E27FC236}">
                <a16:creationId xmlns:a16="http://schemas.microsoft.com/office/drawing/2014/main" id="{13FEF32B-4B76-15A3-8CF2-51DE08991FDB}"/>
              </a:ext>
            </a:extLst>
          </p:cNvPr>
          <p:cNvSpPr txBox="1"/>
          <p:nvPr userDrawn="1"/>
        </p:nvSpPr>
        <p:spPr>
          <a:xfrm>
            <a:off x="7526815" y="1245035"/>
            <a:ext cx="2385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der Besucher hinterlassen freiwillig ihre Kontaktdaten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2" name="70% label">
            <a:extLst>
              <a:ext uri="{FF2B5EF4-FFF2-40B4-BE49-F238E27FC236}">
                <a16:creationId xmlns:a16="http://schemas.microsoft.com/office/drawing/2014/main" id="{9B3F29ED-E6C9-5717-3507-04A799FC2D9D}"/>
              </a:ext>
            </a:extLst>
          </p:cNvPr>
          <p:cNvSpPr txBox="1"/>
          <p:nvPr userDrawn="1"/>
        </p:nvSpPr>
        <p:spPr>
          <a:xfrm>
            <a:off x="7526814" y="1958951"/>
            <a:ext cx="29305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teilen ihr Motiv aktiv auf Facebook, Instagram oder TikTok — mit Ihrem Markt als Kontext.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4" name="Bullet 1">
            <a:extLst>
              <a:ext uri="{FF2B5EF4-FFF2-40B4-BE49-F238E27FC236}">
                <a16:creationId xmlns:a16="http://schemas.microsoft.com/office/drawing/2014/main" id="{FBD4CF6E-CBF1-61F6-D34D-5BE68BF261E9}"/>
              </a:ext>
            </a:extLst>
          </p:cNvPr>
          <p:cNvSpPr txBox="1"/>
          <p:nvPr userDrawn="1"/>
        </p:nvSpPr>
        <p:spPr>
          <a:xfrm>
            <a:off x="6854823" y="2891363"/>
            <a:ext cx="2906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Ihre Besucher werden zu Markenbotschaftern Ihres Markts.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5" name="Bullet 3">
            <a:extLst>
              <a:ext uri="{FF2B5EF4-FFF2-40B4-BE49-F238E27FC236}">
                <a16:creationId xmlns:a16="http://schemas.microsoft.com/office/drawing/2014/main" id="{C514D626-BB0B-AB08-69DE-165E17EDECF1}"/>
              </a:ext>
            </a:extLst>
          </p:cNvPr>
          <p:cNvSpPr txBox="1"/>
          <p:nvPr userDrawn="1"/>
        </p:nvSpPr>
        <p:spPr>
          <a:xfrm>
            <a:off x="6879610" y="4096931"/>
            <a:ext cx="260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Organischer Content, den kein Werbebudget ersetzen kann.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6" name="Bullet 2">
            <a:extLst>
              <a:ext uri="{FF2B5EF4-FFF2-40B4-BE49-F238E27FC236}">
                <a16:creationId xmlns:a16="http://schemas.microsoft.com/office/drawing/2014/main" id="{0D2360C0-E716-7C7C-7057-8E1AE54D65EB}"/>
              </a:ext>
            </a:extLst>
          </p:cNvPr>
          <p:cNvSpPr txBox="1"/>
          <p:nvPr userDrawn="1"/>
        </p:nvSpPr>
        <p:spPr>
          <a:xfrm>
            <a:off x="6868444" y="3494147"/>
            <a:ext cx="327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Jedes geteilte Motiv trägt Ihren Marktnamen in die sozialen Netzwerke.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6F38D-32EB-3F34-97DF-A0289561AC92}"/>
              </a:ext>
            </a:extLst>
          </p:cNvPr>
          <p:cNvSpPr txBox="1"/>
          <p:nvPr userDrawn="1"/>
        </p:nvSpPr>
        <p:spPr>
          <a:xfrm>
            <a:off x="6854823" y="5057632"/>
            <a:ext cx="49658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Nach der Saison erhalten Sie von uns eine vollständige Auswertung — welche Motive am häufigsten geteilt wurden, welche Masken am besten ankamen, und wie wir das Erlebnis für die nächste Saison gemeinsam weiterentwickeln.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09BEFA7-0184-4D1E-A633-952B867AB5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4" y="1041393"/>
            <a:ext cx="4482949" cy="243557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7F9FCF3-C1CE-4264-B2D6-3F2F58C6D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64986" y="3096675"/>
            <a:ext cx="3827193" cy="24355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8F96726-7641-4420-91C9-8738DF0EA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4" y="5132050"/>
            <a:ext cx="4482948" cy="24355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E6FEF5-067C-4E5F-8579-EF39004207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332" y="5308746"/>
            <a:ext cx="792097" cy="7813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40D0C8-2BE3-48B8-BA48-16B5E4932E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342" y="5308747"/>
            <a:ext cx="792097" cy="78139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94C5D0A-DB63-454A-8A92-E2C284C7604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153" y="5308746"/>
            <a:ext cx="792097" cy="781393"/>
          </a:xfrm>
          <a:prstGeom prst="rect">
            <a:avLst/>
          </a:prstGeom>
        </p:spPr>
      </p:pic>
      <p:cxnSp>
        <p:nvCxnSpPr>
          <p:cNvPr id="25" name="Пряма сполучна лінія 24">
            <a:extLst>
              <a:ext uri="{FF2B5EF4-FFF2-40B4-BE49-F238E27FC236}">
                <a16:creationId xmlns:a16="http://schemas.microsoft.com/office/drawing/2014/main" id="{AC58FD16-43B6-45CF-BF4F-91F4553B5721}"/>
              </a:ext>
            </a:extLst>
          </p:cNvPr>
          <p:cNvCxnSpPr/>
          <p:nvPr userDrawn="1"/>
        </p:nvCxnSpPr>
        <p:spPr>
          <a:xfrm>
            <a:off x="0" y="621791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FB85E53-71AF-4806-BA66-41710B1697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90" y="1730371"/>
            <a:ext cx="3499441" cy="243557"/>
          </a:xfrm>
          <a:prstGeom prst="rect">
            <a:avLst/>
          </a:prstGeom>
        </p:spPr>
      </p:pic>
      <p:sp>
        <p:nvSpPr>
          <p:cNvPr id="29" name="Stat numbers">
            <a:extLst>
              <a:ext uri="{FF2B5EF4-FFF2-40B4-BE49-F238E27FC236}">
                <a16:creationId xmlns:a16="http://schemas.microsoft.com/office/drawing/2014/main" id="{2400EDD1-E8DD-4284-9EA9-8D99721D1C93}"/>
              </a:ext>
            </a:extLst>
          </p:cNvPr>
          <p:cNvSpPr txBox="1"/>
          <p:nvPr userDrawn="1"/>
        </p:nvSpPr>
        <p:spPr>
          <a:xfrm>
            <a:off x="6137215" y="1790051"/>
            <a:ext cx="138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b="1" dirty="0">
                <a:latin typeface="+mj-lt"/>
                <a:cs typeface="Calibri Light" panose="020F0302020204030204" pitchFamily="34" charset="0"/>
              </a:rPr>
              <a:t>7</a:t>
            </a:r>
            <a:r>
              <a:rPr lang="ru-UA" sz="5400" b="1" dirty="0">
                <a:latin typeface="+mj-lt"/>
                <a:cs typeface="Calibri Light" panose="020F0302020204030204" pitchFamily="34" charset="0"/>
              </a:rPr>
              <a:t>0%</a:t>
            </a:r>
            <a:endParaRPr lang="uk-UA" sz="5400" b="1" dirty="0"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3E9E1CA-1D8C-412C-92AE-39D4124F16E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90" y="2808781"/>
            <a:ext cx="599545" cy="62021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9499CD7-B256-4AD8-9D49-D53067E1CC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900" y="3447319"/>
            <a:ext cx="585923" cy="606127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1CEC46F-06D0-4BD3-82F9-8278B92425D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900" y="4044281"/>
            <a:ext cx="599544" cy="62021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6FE952D-D817-4E1E-A8DD-B0EE1B4CC6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294" y="4682313"/>
            <a:ext cx="3499441" cy="24355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C19F9ED5-60E5-4A6B-BFC6-278FBA13C01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15" y="4879517"/>
            <a:ext cx="792097" cy="781393"/>
          </a:xfrm>
          <a:prstGeom prst="rect">
            <a:avLst/>
          </a:prstGeom>
        </p:spPr>
      </p:pic>
      <p:sp>
        <p:nvSpPr>
          <p:cNvPr id="3" name="IMG_INSTAGRAM_MOCKUP">
            <a:extLst>
              <a:ext uri="{FF2B5EF4-FFF2-40B4-BE49-F238E27FC236}">
                <a16:creationId xmlns:a16="http://schemas.microsoft.com/office/drawing/2014/main" id="{ABDF3A36-DAC0-59C7-8EEF-848CE4C8AB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1149" y="1334250"/>
            <a:ext cx="4139778" cy="3814387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82583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10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97FF0033-A559-B409-BFF7-042C6C90B062}"/>
              </a:ext>
            </a:extLst>
          </p:cNvPr>
          <p:cNvSpPr txBox="1"/>
          <p:nvPr userDrawn="1"/>
        </p:nvSpPr>
        <p:spPr>
          <a:xfrm>
            <a:off x="481745" y="258443"/>
            <a:ext cx="51630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baseline="0" dirty="0">
                <a:latin typeface="+mj-lt"/>
              </a:rPr>
              <a:t>Lassen Sie uns gemeinsam</a:t>
            </a:r>
            <a:endParaRPr lang="uk-UA" sz="2800" b="1" baseline="0" dirty="0">
              <a:latin typeface="+mj-lt"/>
            </a:endParaRPr>
          </a:p>
          <a:p>
            <a:r>
              <a:rPr lang="de-DE" sz="2800" b="1" baseline="0" dirty="0">
                <a:latin typeface="+mj-lt"/>
              </a:rPr>
              <a:t>Ihre Erlebniswelt entwickeln.</a:t>
            </a:r>
            <a:endParaRPr lang="ru-UA" sz="2800" b="1" baseline="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9289A-52F8-0727-354A-ECBCD4E3DF91}"/>
              </a:ext>
            </a:extLst>
          </p:cNvPr>
          <p:cNvSpPr txBox="1"/>
          <p:nvPr userDrawn="1"/>
        </p:nvSpPr>
        <p:spPr>
          <a:xfrm>
            <a:off x="525599" y="1438602"/>
            <a:ext cx="61831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Interesse geweckt?</a:t>
            </a:r>
            <a:endParaRPr lang="uk-UA" sz="1400" baseline="0" dirty="0">
              <a:solidFill>
                <a:srgbClr val="231F20"/>
              </a:solidFill>
              <a:latin typeface="+mn-lt"/>
            </a:endParaRPr>
          </a:p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Gerne besprechen wir in einem persönlichen Gespräch, welche Erlebniswelten, KI-/AR-Szenarien und Vermarktungsmöglichkeiten zu Ihrem Standort passen.</a:t>
            </a:r>
            <a:endParaRPr lang="uk-UA" sz="1400" baseline="0" dirty="0">
              <a:solidFill>
                <a:srgbClr val="231F20"/>
              </a:solidFill>
              <a:latin typeface="+mn-lt"/>
            </a:endParaRPr>
          </a:p>
          <a:p>
            <a:endParaRPr lang="uk-UA" sz="1400" baseline="0" dirty="0">
              <a:solidFill>
                <a:srgbClr val="231F20"/>
              </a:solidFill>
              <a:latin typeface="+mn-lt"/>
            </a:endParaRPr>
          </a:p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Wir freuen uns darauf, Ihre Ideen kennenzulernen und gemeinsam Möglichkeiten für eine erfolgreiche Umsetzung zu entwickeln.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A20F8B-5C87-F691-A08B-6F90EE0C4649}"/>
              </a:ext>
            </a:extLst>
          </p:cNvPr>
          <p:cNvSpPr txBox="1"/>
          <p:nvPr userDrawn="1"/>
        </p:nvSpPr>
        <p:spPr>
          <a:xfrm>
            <a:off x="1087082" y="3222499"/>
            <a:ext cx="2002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+mn-lt"/>
              </a:rPr>
              <a:t>cosmoproducts</a:t>
            </a:r>
            <a:r>
              <a:rPr lang="en-US" sz="1400" b="1" dirty="0">
                <a:latin typeface="+mn-lt"/>
              </a:rPr>
              <a:t> GmbH</a:t>
            </a:r>
            <a:endParaRPr lang="uk-UA" sz="1400" b="1" dirty="0">
              <a:latin typeface="+mn-lt"/>
            </a:endParaRPr>
          </a:p>
          <a:p>
            <a:r>
              <a:rPr lang="en-US" sz="1400" b="0" dirty="0">
                <a:latin typeface="+mn-lt"/>
              </a:rPr>
              <a:t>Martin Baack</a:t>
            </a:r>
            <a:endParaRPr lang="ru-UA" sz="1400" b="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215D5-EA06-D10C-87CD-D89EE1FD506B}"/>
              </a:ext>
            </a:extLst>
          </p:cNvPr>
          <p:cNvSpPr txBox="1"/>
          <p:nvPr userDrawn="1"/>
        </p:nvSpPr>
        <p:spPr>
          <a:xfrm>
            <a:off x="1089191" y="3785883"/>
            <a:ext cx="20835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Bruno-</a:t>
            </a:r>
            <a:r>
              <a:rPr lang="en-US" sz="1400" dirty="0" err="1">
                <a:latin typeface="+mn-lt"/>
              </a:rPr>
              <a:t>Bürgel</a:t>
            </a:r>
            <a:r>
              <a:rPr lang="en-US" sz="1400" dirty="0">
                <a:latin typeface="+mn-lt"/>
              </a:rPr>
              <a:t>-Weg 69–81</a:t>
            </a:r>
          </a:p>
          <a:p>
            <a:r>
              <a:rPr lang="en-US" sz="1400" dirty="0">
                <a:latin typeface="+mn-lt"/>
              </a:rPr>
              <a:t>Haus 6</a:t>
            </a:r>
          </a:p>
          <a:p>
            <a:r>
              <a:rPr lang="en-US" sz="1400" dirty="0">
                <a:latin typeface="+mn-lt"/>
              </a:rPr>
              <a:t>12439 Berlin</a:t>
            </a:r>
            <a:endParaRPr lang="ru-UA" sz="14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E197C-9DEB-CC43-50FE-0405D998DEC7}"/>
              </a:ext>
            </a:extLst>
          </p:cNvPr>
          <p:cNvSpPr txBox="1"/>
          <p:nvPr userDrawn="1"/>
        </p:nvSpPr>
        <p:spPr>
          <a:xfrm>
            <a:off x="1069717" y="4590779"/>
            <a:ext cx="255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dirty="0">
                <a:latin typeface="+mn-lt"/>
              </a:rPr>
              <a:t>Telefon: +49 (0)30 – 26 36 71 70</a:t>
            </a:r>
            <a:endParaRPr lang="ru-UA" sz="1400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FF2DA-CFBF-634B-9379-860227E5C3AB}"/>
              </a:ext>
            </a:extLst>
          </p:cNvPr>
          <p:cNvSpPr txBox="1"/>
          <p:nvPr userDrawn="1"/>
        </p:nvSpPr>
        <p:spPr>
          <a:xfrm>
            <a:off x="1078639" y="5106747"/>
            <a:ext cx="33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E-Mail: martinbaack@cosmoproducts.de</a:t>
            </a:r>
            <a:endParaRPr lang="ru-UA" sz="14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5E954C-3CAD-CED7-575A-4F6765CCD87A}"/>
              </a:ext>
            </a:extLst>
          </p:cNvPr>
          <p:cNvSpPr txBox="1"/>
          <p:nvPr userDrawn="1"/>
        </p:nvSpPr>
        <p:spPr>
          <a:xfrm>
            <a:off x="1078639" y="5610174"/>
            <a:ext cx="252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Web.: www.cosmoproducts.de</a:t>
            </a:r>
            <a:endParaRPr lang="ru-UA" sz="1400" dirty="0">
              <a:latin typeface="+mn-lt"/>
            </a:endParaRPr>
          </a:p>
        </p:txBody>
      </p:sp>
      <p:sp>
        <p:nvSpPr>
          <p:cNvPr id="23" name="IMG_LANDMARK_PHOTO">
            <a:extLst>
              <a:ext uri="{FF2B5EF4-FFF2-40B4-BE49-F238E27FC236}">
                <a16:creationId xmlns:a16="http://schemas.microsoft.com/office/drawing/2014/main" id="{C4395EEA-CD97-5724-1910-28446B50A3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98886" y="372316"/>
            <a:ext cx="4352809" cy="5439600"/>
          </a:xfrm>
          <a:prstGeom prst="roundRect">
            <a:avLst>
              <a:gd name="adj" fmla="val 8712"/>
            </a:avLst>
          </a:prstGeom>
        </p:spPr>
        <p:txBody>
          <a:bodyPr/>
          <a:lstStyle/>
          <a:p>
            <a:endParaRPr lang="ru-UA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7FAD695-0A3B-468C-87CC-6403C8FE6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6" y="1258633"/>
            <a:ext cx="3711601" cy="24355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522051B-1089-46F2-80FF-83CA66979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6" y="2789978"/>
            <a:ext cx="3711601" cy="243557"/>
          </a:xfrm>
          <a:prstGeom prst="rect">
            <a:avLst/>
          </a:prstGeom>
        </p:spPr>
      </p:pic>
      <p:cxnSp>
        <p:nvCxnSpPr>
          <p:cNvPr id="22" name="Пряма сполучна лінія 21">
            <a:extLst>
              <a:ext uri="{FF2B5EF4-FFF2-40B4-BE49-F238E27FC236}">
                <a16:creationId xmlns:a16="http://schemas.microsoft.com/office/drawing/2014/main" id="{DF4F4190-EEA9-4524-9D4A-32D7B8332FF8}"/>
              </a:ext>
            </a:extLst>
          </p:cNvPr>
          <p:cNvCxnSpPr/>
          <p:nvPr userDrawn="1"/>
        </p:nvCxnSpPr>
        <p:spPr>
          <a:xfrm>
            <a:off x="0" y="621791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4C06BA-F89B-4B2D-9325-E93968B8F2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18" y="3092116"/>
            <a:ext cx="789434" cy="78943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439C891-6DB6-4460-B14B-3EF1853E27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40" y="3639446"/>
            <a:ext cx="789434" cy="78943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894E2E1-38C6-4590-80F1-97DC8D63CB6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3" y="4368083"/>
            <a:ext cx="789434" cy="78943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80F26A5-CE7B-473E-8447-4DB9A104B3F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3" y="4864021"/>
            <a:ext cx="789434" cy="78943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F8E3B0A-FF3D-4CC5-8F8B-1418957A98F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43" y="5366399"/>
            <a:ext cx="789434" cy="78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299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F10AE61-2D0E-0559-A037-CC106E1A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ru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40D6260-0B6D-2302-76A4-777E3A119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UA" dirty="0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4A6DF27-3F0A-650A-612F-6DBB0CA89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6DFF1-F6F8-444D-B677-7690BD10E8E8}" type="datetimeFigureOut">
              <a:rPr lang="ru-UA" smtClean="0"/>
              <a:t>11.09.2026</a:t>
            </a:fld>
            <a:endParaRPr lang="ru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977822A-C09C-5B8A-4043-4AEB3EE32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75DA962-FE13-FF2E-A312-6C484DB8C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D6BF7-A8D0-4F37-A8A0-1BFC23D768EB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36294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4" r:id="rId3"/>
    <p:sldLayoutId id="2147483667" r:id="rId4"/>
    <p:sldLayoutId id="2147483649" r:id="rId5"/>
    <p:sldLayoutId id="2147483665" r:id="rId6"/>
    <p:sldLayoutId id="2147483666" r:id="rId7"/>
    <p:sldLayoutId id="2147483663" r:id="rId8"/>
    <p:sldLayoutId id="2147483662" r:id="rId9"/>
    <p:sldLayoutId id="214748366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Cosmocard">
      <a:dk1>
        <a:srgbClr val="231F20"/>
      </a:dk1>
      <a:lt1>
        <a:srgbClr val="F2EAE0"/>
      </a:lt1>
      <a:dk2>
        <a:srgbClr val="44546A"/>
      </a:dk2>
      <a:lt2>
        <a:srgbClr val="E7E6E6"/>
      </a:lt2>
      <a:accent1>
        <a:srgbClr val="C5923B"/>
      </a:accent1>
      <a:accent2>
        <a:srgbClr val="FCB657"/>
      </a:accent2>
      <a:accent3>
        <a:srgbClr val="0D1216"/>
      </a:accent3>
      <a:accent4>
        <a:srgbClr val="001319"/>
      </a:accent4>
      <a:accent5>
        <a:srgbClr val="EFE7DE"/>
      </a:accent5>
      <a:accent6>
        <a:srgbClr val="F2F0EE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3813</TotalTime>
  <Words>0</Words>
  <Application>Microsoft Office PowerPoint</Application>
  <PresentationFormat>Широкий екран</PresentationFormat>
  <Paragraphs>0</Paragraphs>
  <Slides>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0</vt:i4>
      </vt:variant>
    </vt:vector>
  </HeadingPairs>
  <TitlesOfParts>
    <vt:vector size="8" baseType="lpstr">
      <vt:lpstr>Arial</vt:lpstr>
      <vt:lpstr>Bahnschrift Condensed</vt:lpstr>
      <vt:lpstr>Bahnschrift SemiLight</vt:lpstr>
      <vt:lpstr>Calibri</vt:lpstr>
      <vt:lpstr>Candara</vt:lpstr>
      <vt:lpstr>Helvetica Neue</vt:lpstr>
      <vt:lpstr>Myriad Pro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Наталія Матковська</dc:creator>
  <cp:lastModifiedBy>Наталія Матковська</cp:lastModifiedBy>
  <cp:revision>123</cp:revision>
  <dcterms:created xsi:type="dcterms:W3CDTF">2026-08-20T11:49:18Z</dcterms:created>
  <dcterms:modified xsi:type="dcterms:W3CDTF">2026-09-11T06:31:41Z</dcterms:modified>
</cp:coreProperties>
</file>