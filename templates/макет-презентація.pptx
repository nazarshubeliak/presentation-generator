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C1B"/>
    <a:srgbClr val="FFFFFF"/>
    <a:srgbClr val="F2F0EE"/>
    <a:srgbClr val="D2DA2A"/>
    <a:srgbClr val="394F61"/>
    <a:srgbClr val="EFB24F"/>
    <a:srgbClr val="000000"/>
    <a:srgbClr val="D8D8D8"/>
    <a:srgbClr val="FF0066"/>
    <a:srgbClr val="C59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009A7-6B9F-4D93-88A2-45E8B8D87E2F}" type="datetimeFigureOut">
              <a:rPr lang="ru-UA" smtClean="0"/>
              <a:t>02.09.2026</a:t>
            </a:fld>
            <a:endParaRPr lang="ru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6CA4E-C226-45D9-9F42-524BAAA9C19D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376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_THEME_WORLD_PHOTO">
            <a:extLst>
              <a:ext uri="{FF2B5EF4-FFF2-40B4-BE49-F238E27FC236}">
                <a16:creationId xmlns:a16="http://schemas.microsoft.com/office/drawing/2014/main" id="{F63D0116-0F64-EE25-A2E4-613EE5B0DC4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ru-UA"/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E9323473-A445-EBAE-C06D-C9EE7FAC4C2B}"/>
              </a:ext>
            </a:extLst>
          </p:cNvPr>
          <p:cNvSpPr/>
          <p:nvPr userDrawn="1"/>
        </p:nvSpPr>
        <p:spPr>
          <a:xfrm>
            <a:off x="331199" y="298800"/>
            <a:ext cx="7707600" cy="1602000"/>
          </a:xfrm>
          <a:prstGeom prst="rect">
            <a:avLst/>
          </a:prstGeom>
          <a:solidFill>
            <a:schemeClr val="accent6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D306CD0-ACF3-4DED-AB67-FE9080025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90" y="1255290"/>
            <a:ext cx="6291361" cy="405385"/>
          </a:xfrm>
          <a:prstGeom prst="rect">
            <a:avLst/>
          </a:prstGeom>
        </p:spPr>
      </p:pic>
      <p:sp>
        <p:nvSpPr>
          <p:cNvPr id="48" name="TXT_THEME_WORLD_NAME">
            <a:extLst>
              <a:ext uri="{FF2B5EF4-FFF2-40B4-BE49-F238E27FC236}">
                <a16:creationId xmlns:a16="http://schemas.microsoft.com/office/drawing/2014/main" id="{90CC0254-2BA0-41FA-A51E-758A1DA856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6200" y="5827221"/>
            <a:ext cx="1857574" cy="394642"/>
          </a:xfrm>
          <a:solidFill>
            <a:srgbClr val="FFFFFF">
              <a:alpha val="7843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Kaiser-Otto-Pfalz</a:t>
            </a:r>
            <a:endParaRPr lang="uk-UA" dirty="0"/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C36BD5EC-2002-4D08-865A-2823C24C99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  <p:sp>
        <p:nvSpPr>
          <p:cNvPr id="51" name="ТЕЖ ТРЕБА ПОМІНЯТИ">
            <a:extLst>
              <a:ext uri="{FF2B5EF4-FFF2-40B4-BE49-F238E27FC236}">
                <a16:creationId xmlns:a16="http://schemas.microsoft.com/office/drawing/2014/main" id="{6ED6887B-3B7C-4272-BFDE-866770A7D1D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30338" y="2684463"/>
            <a:ext cx="2967037" cy="2211387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5" name="TXT_TITLE_SUBLINE">
            <a:extLst>
              <a:ext uri="{FF2B5EF4-FFF2-40B4-BE49-F238E27FC236}">
                <a16:creationId xmlns:a16="http://schemas.microsoft.com/office/drawing/2014/main" id="{F20B1954-AB24-881B-8BF0-0308045A45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1200" y="1555200"/>
            <a:ext cx="7030800" cy="234000"/>
          </a:xfrm>
        </p:spPr>
        <p:txBody>
          <a:bodyPr/>
          <a:lstStyle>
            <a:lvl1pPr>
              <a:buNone/>
              <a:defRPr sz="1400" baseline="0">
                <a:solidFill>
                  <a:srgbClr val="D8D8D8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K</a:t>
            </a:r>
            <a:r>
              <a:rPr lang="de-DE" dirty="0"/>
              <a:t>I- </a:t>
            </a:r>
            <a:r>
              <a:rPr lang="en-US" dirty="0"/>
              <a:t>&amp; AR-</a:t>
            </a:r>
            <a:r>
              <a:rPr lang="en-US" dirty="0" err="1"/>
              <a:t>Erlebnisinstallationen</a:t>
            </a:r>
            <a:r>
              <a:rPr lang="en-US" dirty="0"/>
              <a:t> f</a:t>
            </a:r>
            <a:r>
              <a:rPr lang="de-DE" dirty="0" err="1"/>
              <a:t>ür</a:t>
            </a:r>
            <a:r>
              <a:rPr lang="de-DE" dirty="0"/>
              <a:t> den Magdeburger Weihnachtsmarkt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520A6-5849-558C-2F65-299E59F7DF00}"/>
              </a:ext>
            </a:extLst>
          </p:cNvPr>
          <p:cNvSpPr txBox="1"/>
          <p:nvPr userDrawn="1"/>
        </p:nvSpPr>
        <p:spPr>
          <a:xfrm>
            <a:off x="576000" y="334800"/>
            <a:ext cx="7423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i="0" baseline="0" dirty="0">
                <a:solidFill>
                  <a:srgbClr val="F2F0EE"/>
                </a:solidFill>
                <a:latin typeface="Helvetica Neue" panose="02000806000000020004" pitchFamily="2"/>
              </a:rPr>
              <a:t>Wir machen Ihre Besucher</a:t>
            </a:r>
            <a:endParaRPr lang="uk-UA" sz="2800" b="1" i="0" baseline="0" dirty="0">
              <a:solidFill>
                <a:srgbClr val="F2F0EE"/>
              </a:solidFill>
              <a:latin typeface="Helvetica" panose="020B0604020202020204" pitchFamily="34" charset="0"/>
            </a:endParaRPr>
          </a:p>
          <a:p>
            <a:r>
              <a:rPr lang="de-DE" sz="2800" b="1" i="0" baseline="0" dirty="0">
                <a:solidFill>
                  <a:srgbClr val="F2F0EE"/>
                </a:solidFill>
                <a:latin typeface="Helvetica Neue" panose="02000806000000020004" pitchFamily="2"/>
              </a:rPr>
              <a:t>zu einem Teil Ihrer Geschichte</a:t>
            </a:r>
            <a:endParaRPr lang="ru-UA" sz="2800" b="1" i="0" baseline="0" dirty="0">
              <a:solidFill>
                <a:srgbClr val="F2F0EE"/>
              </a:solidFill>
              <a:latin typeface="Helvetica" panose="020B0604020202020204" pitchFamily="34" charset="0"/>
            </a:endParaRPr>
          </a:p>
          <a:p>
            <a:endParaRPr lang="ru-UA" sz="2800" baseline="0" dirty="0"/>
          </a:p>
        </p:txBody>
      </p:sp>
    </p:spTree>
    <p:extLst>
      <p:ext uri="{BB962C8B-B14F-4D97-AF65-F5344CB8AC3E}">
        <p14:creationId xmlns:p14="http://schemas.microsoft.com/office/powerpoint/2010/main" val="109625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2_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G_THEME_WORLD_PHOTO">
            <a:extLst>
              <a:ext uri="{FF2B5EF4-FFF2-40B4-BE49-F238E27FC236}">
                <a16:creationId xmlns:a16="http://schemas.microsoft.com/office/drawing/2014/main" id="{5D13BE0F-28BA-C7B7-F73A-660A03B579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45662" y="-371711"/>
            <a:ext cx="8338917" cy="8874290"/>
          </a:xfrm>
          <a:prstGeom prst="ellipse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10" name="Headline">
            <a:extLst>
              <a:ext uri="{FF2B5EF4-FFF2-40B4-BE49-F238E27FC236}">
                <a16:creationId xmlns:a16="http://schemas.microsoft.com/office/drawing/2014/main" id="{2B9D6B00-9D9F-D95A-2651-0EB013E92262}"/>
              </a:ext>
            </a:extLst>
          </p:cNvPr>
          <p:cNvSpPr txBox="1"/>
          <p:nvPr userDrawn="1"/>
        </p:nvSpPr>
        <p:spPr>
          <a:xfrm>
            <a:off x="421198" y="352799"/>
            <a:ext cx="5140017" cy="1440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20" b="1" baseline="0" dirty="0">
                <a:solidFill>
                  <a:srgbClr val="231F20"/>
                </a:solidFill>
                <a:latin typeface="Helvetica Neue" panose="02000806000000020004" pitchFamily="2"/>
              </a:rPr>
              <a:t>Ihr Erlebnispartner —</a:t>
            </a:r>
            <a:endParaRPr lang="uk-UA" sz="2920" b="1" baseline="0" dirty="0">
              <a:solidFill>
                <a:srgbClr val="231F20"/>
              </a:solidFill>
            </a:endParaRPr>
          </a:p>
          <a:p>
            <a:r>
              <a:rPr lang="de-DE" sz="2920" b="1" baseline="0" dirty="0">
                <a:solidFill>
                  <a:srgbClr val="231F20"/>
                </a:solidFill>
                <a:latin typeface="Helvetica Neue" panose="02000806000000020004" pitchFamily="2"/>
              </a:rPr>
              <a:t>von Konzept bis</a:t>
            </a:r>
            <a:r>
              <a:rPr lang="uk-UA" sz="2920" b="1" baseline="0" dirty="0">
                <a:solidFill>
                  <a:srgbClr val="231F20"/>
                </a:solidFill>
                <a:latin typeface="+mn-lt"/>
              </a:rPr>
              <a:t> </a:t>
            </a:r>
            <a:r>
              <a:rPr lang="de-DE" sz="2920" b="1" baseline="0" dirty="0">
                <a:solidFill>
                  <a:srgbClr val="231F20"/>
                </a:solidFill>
                <a:latin typeface="Helvetica Neue" panose="02000806000000020004" pitchFamily="2"/>
              </a:rPr>
              <a:t>Betreuung </a:t>
            </a:r>
            <a:endParaRPr lang="uk-UA" sz="2920" b="1" baseline="0" dirty="0">
              <a:solidFill>
                <a:srgbClr val="231F20"/>
              </a:solidFill>
              <a:latin typeface="Helvetica Neue" panose="02000806000000020004" pitchFamily="2"/>
            </a:endParaRPr>
          </a:p>
          <a:p>
            <a:r>
              <a:rPr lang="de-DE" sz="2920" b="1" baseline="0" dirty="0">
                <a:solidFill>
                  <a:srgbClr val="231F20"/>
                </a:solidFill>
                <a:latin typeface="Helvetica Neue" panose="02000806000000020004" pitchFamily="2"/>
              </a:rPr>
              <a:t>vor Ort.</a:t>
            </a:r>
            <a:endParaRPr lang="ru-UA" sz="2920" b="1" baseline="0" dirty="0">
              <a:solidFill>
                <a:srgbClr val="231F20"/>
              </a:solidFill>
            </a:endParaRPr>
          </a:p>
        </p:txBody>
      </p:sp>
      <p:sp>
        <p:nvSpPr>
          <p:cNvPr id="11" name="Body paragraph">
            <a:extLst>
              <a:ext uri="{FF2B5EF4-FFF2-40B4-BE49-F238E27FC236}">
                <a16:creationId xmlns:a16="http://schemas.microsoft.com/office/drawing/2014/main" id="{55B58AAC-CEF3-451B-C172-C635C31AA880}"/>
              </a:ext>
            </a:extLst>
          </p:cNvPr>
          <p:cNvSpPr txBox="1"/>
          <p:nvPr userDrawn="1"/>
        </p:nvSpPr>
        <p:spPr>
          <a:xfrm>
            <a:off x="395647" y="2077199"/>
            <a:ext cx="4241634" cy="640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87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Wir entwickeln individuelle KI- &amp; AR-Erlebniswelten für Weihnachtsmärkte — und schaffen dabei mehrere vernetzte Erlebnisstationen auf dem gesamten Markt.</a:t>
            </a:r>
            <a:endParaRPr lang="ru-UA" sz="1187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2" name="Bullet 1">
            <a:extLst>
              <a:ext uri="{FF2B5EF4-FFF2-40B4-BE49-F238E27FC236}">
                <a16:creationId xmlns:a16="http://schemas.microsoft.com/office/drawing/2014/main" id="{CD5CE63C-9ADE-F2D8-AA1E-D070652CFCBB}"/>
              </a:ext>
            </a:extLst>
          </p:cNvPr>
          <p:cNvSpPr txBox="1"/>
          <p:nvPr userDrawn="1"/>
        </p:nvSpPr>
        <p:spPr>
          <a:xfrm>
            <a:off x="1614304" y="3067538"/>
            <a:ext cx="26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solidFill>
                  <a:srgbClr val="231F20"/>
                </a:solidFill>
              </a:rPr>
              <a:t>Erlebniskonzept und 3D-Masken</a:t>
            </a:r>
            <a:r>
              <a:rPr lang="de-DE" sz="1200" baseline="0" dirty="0">
                <a:solidFill>
                  <a:srgbClr val="231F20"/>
                </a:solidFill>
              </a:rPr>
              <a:t> werden individuell für den jeweiligen Markt entwickelt.</a:t>
            </a:r>
            <a:endParaRPr lang="ru-UA" sz="1200" baseline="0" dirty="0">
              <a:solidFill>
                <a:srgbClr val="231F20"/>
              </a:solidFill>
            </a:endParaRPr>
          </a:p>
        </p:txBody>
      </p:sp>
      <p:sp>
        <p:nvSpPr>
          <p:cNvPr id="13" name="Bullet 2">
            <a:extLst>
              <a:ext uri="{FF2B5EF4-FFF2-40B4-BE49-F238E27FC236}">
                <a16:creationId xmlns:a16="http://schemas.microsoft.com/office/drawing/2014/main" id="{304802F7-D140-7F90-B698-DC7DB80DF2CD}"/>
              </a:ext>
            </a:extLst>
          </p:cNvPr>
          <p:cNvSpPr txBox="1"/>
          <p:nvPr userDrawn="1"/>
        </p:nvSpPr>
        <p:spPr>
          <a:xfrm>
            <a:off x="1614304" y="4063839"/>
            <a:ext cx="274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solidFill>
                  <a:srgbClr val="231F20"/>
                </a:solidFill>
              </a:rPr>
              <a:t>Hüttendesign</a:t>
            </a:r>
            <a:r>
              <a:rPr lang="de-DE" sz="1200" baseline="0" dirty="0">
                <a:solidFill>
                  <a:srgbClr val="231F20"/>
                </a:solidFill>
              </a:rPr>
              <a:t>, Technik und Aufbau werden vollständig durch uns realisiert.</a:t>
            </a:r>
            <a:endParaRPr lang="ru-UA" sz="1200" baseline="0" dirty="0">
              <a:solidFill>
                <a:srgbClr val="231F20"/>
              </a:solidFill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11DE6DE9-EB4D-F440-9BC5-5A5C210BA305}"/>
              </a:ext>
            </a:extLst>
          </p:cNvPr>
          <p:cNvSpPr txBox="1"/>
          <p:nvPr userDrawn="1"/>
        </p:nvSpPr>
        <p:spPr>
          <a:xfrm>
            <a:off x="1642080" y="4972251"/>
            <a:ext cx="299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solidFill>
                  <a:srgbClr val="231F20"/>
                </a:solidFill>
              </a:rPr>
              <a:t>Wir stellen eigenes Personal vor Ort -</a:t>
            </a:r>
            <a:r>
              <a:rPr lang="de-DE" sz="1200" b="0" baseline="0" dirty="0">
                <a:solidFill>
                  <a:srgbClr val="231F20"/>
                </a:solidFill>
              </a:rPr>
              <a:t> der Marktleiter kümmert sich um nichts.</a:t>
            </a:r>
            <a:endParaRPr lang="ru-UA" sz="1200" b="0" baseline="0" dirty="0">
              <a:solidFill>
                <a:srgbClr val="231F2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5F0F49-03F4-4080-816C-DC6434F1A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45" y="1654916"/>
            <a:ext cx="4126479" cy="405385"/>
          </a:xfrm>
          <a:prstGeom prst="rect">
            <a:avLst/>
          </a:prstGeom>
        </p:spPr>
      </p:pic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8559951C-D409-4509-9FE7-8880737939AA}"/>
              </a:ext>
            </a:extLst>
          </p:cNvPr>
          <p:cNvCxnSpPr>
            <a:cxnSpLocks/>
          </p:cNvCxnSpPr>
          <p:nvPr userDrawn="1"/>
        </p:nvCxnSpPr>
        <p:spPr>
          <a:xfrm>
            <a:off x="1537855" y="3790604"/>
            <a:ext cx="269724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 сполучна лінія 27">
            <a:extLst>
              <a:ext uri="{FF2B5EF4-FFF2-40B4-BE49-F238E27FC236}">
                <a16:creationId xmlns:a16="http://schemas.microsoft.com/office/drawing/2014/main" id="{05672D53-81C9-4068-AE2F-4660BFBDF14E}"/>
              </a:ext>
            </a:extLst>
          </p:cNvPr>
          <p:cNvCxnSpPr/>
          <p:nvPr userDrawn="1"/>
        </p:nvCxnSpPr>
        <p:spPr>
          <a:xfrm>
            <a:off x="0" y="618466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AAA7052-6C43-4902-A0E1-DF93EED318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7855" y="4799845"/>
            <a:ext cx="2706859" cy="609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033D709-72ED-46CC-9767-2BB24F9365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44" y="2950764"/>
            <a:ext cx="795207" cy="80127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1466AD0-10EF-480A-8F7C-6945F3D270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8" y="3830878"/>
            <a:ext cx="795207" cy="801278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DE08013-B9F7-4D92-90E6-3DE6C0CFF73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19" y="4787714"/>
            <a:ext cx="795207" cy="801276"/>
          </a:xfrm>
          <a:prstGeom prst="rect">
            <a:avLst/>
          </a:prstGeom>
          <a:ln>
            <a:noFill/>
          </a:ln>
        </p:spPr>
      </p:pic>
      <p:sp>
        <p:nvSpPr>
          <p:cNvPr id="3" name="TXT_THEME_WORLD_NAME">
            <a:extLst>
              <a:ext uri="{FF2B5EF4-FFF2-40B4-BE49-F238E27FC236}">
                <a16:creationId xmlns:a16="http://schemas.microsoft.com/office/drawing/2014/main" id="{B41E9178-20F8-7D89-16A7-552D0086F7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2880" y="4721421"/>
            <a:ext cx="1522800" cy="234000"/>
          </a:xfrm>
          <a:solidFill>
            <a:srgbClr val="000000">
              <a:alpha val="14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>
            <a:lvl1pPr>
              <a:buNone/>
              <a:defRPr sz="1500" b="1" baseline="0">
                <a:solidFill>
                  <a:srgbClr val="F2F0EE"/>
                </a:solidFill>
              </a:defRPr>
            </a:lvl1pPr>
            <a:lvl2pPr>
              <a:buNone/>
              <a:defRPr sz="1500" baseline="0">
                <a:solidFill>
                  <a:srgbClr val="F2F0EE"/>
                </a:solidFill>
              </a:defRPr>
            </a:lvl2pPr>
            <a:lvl3pPr>
              <a:buNone/>
              <a:defRPr sz="1500" baseline="0">
                <a:solidFill>
                  <a:srgbClr val="F2F0EE"/>
                </a:solidFill>
              </a:defRPr>
            </a:lvl3pPr>
            <a:lvl4pPr>
              <a:buNone/>
              <a:defRPr sz="1500" baseline="0">
                <a:solidFill>
                  <a:srgbClr val="F2F0EE"/>
                </a:solidFill>
              </a:defRPr>
            </a:lvl4pPr>
            <a:lvl5pPr>
              <a:buNone/>
              <a:defRPr sz="1500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en-US" dirty="0" err="1"/>
              <a:t>Märchengasse</a:t>
            </a: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A05B54-7794-4E12-C854-402A9032036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8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3_THEME_SHOW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G_SHOWCASE_BACKGROUND">
            <a:extLst>
              <a:ext uri="{FF2B5EF4-FFF2-40B4-BE49-F238E27FC236}">
                <a16:creationId xmlns:a16="http://schemas.microsoft.com/office/drawing/2014/main" id="{F45D7084-EC72-4754-98E8-CD90EB97DC6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ru-UA"/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51459395-9D7C-2DB4-0DB1-E623660D2896}"/>
              </a:ext>
            </a:extLst>
          </p:cNvPr>
          <p:cNvSpPr/>
          <p:nvPr userDrawn="1"/>
        </p:nvSpPr>
        <p:spPr>
          <a:xfrm>
            <a:off x="511199" y="273600"/>
            <a:ext cx="3934800" cy="67680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4568C7C3-A128-9C36-204A-1CF987F42DD2}"/>
              </a:ext>
            </a:extLst>
          </p:cNvPr>
          <p:cNvSpPr/>
          <p:nvPr userDrawn="1"/>
        </p:nvSpPr>
        <p:spPr>
          <a:xfrm>
            <a:off x="6474474" y="273600"/>
            <a:ext cx="3934800" cy="67680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11" name="TXT_THEME_WORLD_NAME_1">
            <a:extLst>
              <a:ext uri="{FF2B5EF4-FFF2-40B4-BE49-F238E27FC236}">
                <a16:creationId xmlns:a16="http://schemas.microsoft.com/office/drawing/2014/main" id="{2850ECA9-D7FE-0421-B08C-1502F74F81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3914" y="391372"/>
            <a:ext cx="3420000" cy="374400"/>
          </a:xfrm>
        </p:spPr>
        <p:txBody>
          <a:bodyPr/>
          <a:lstStyle>
            <a:lvl1pPr>
              <a:buNone/>
              <a:defRPr sz="274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12" name="TXT_THEME_WORLD_NAME_2">
            <a:extLst>
              <a:ext uri="{FF2B5EF4-FFF2-40B4-BE49-F238E27FC236}">
                <a16:creationId xmlns:a16="http://schemas.microsoft.com/office/drawing/2014/main" id="{C0934698-967E-BA7B-8398-8BED3B57B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78364" y="396000"/>
            <a:ext cx="3420000" cy="374400"/>
          </a:xfrm>
        </p:spPr>
        <p:txBody>
          <a:bodyPr/>
          <a:lstStyle>
            <a:lvl1pPr>
              <a:buNone/>
              <a:defRPr sz="274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68" name="Прямокутник: округлені кути 67">
            <a:extLst>
              <a:ext uri="{FF2B5EF4-FFF2-40B4-BE49-F238E27FC236}">
                <a16:creationId xmlns:a16="http://schemas.microsoft.com/office/drawing/2014/main" id="{285B09BA-F04E-4848-A144-94BF57D8ABF4}"/>
              </a:ext>
            </a:extLst>
          </p:cNvPr>
          <p:cNvSpPr/>
          <p:nvPr userDrawn="1"/>
        </p:nvSpPr>
        <p:spPr>
          <a:xfrm>
            <a:off x="1495245" y="5195403"/>
            <a:ext cx="2040462" cy="463818"/>
          </a:xfrm>
          <a:prstGeom prst="round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uk-UA"/>
          </a:p>
        </p:txBody>
      </p:sp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50BE7248-BEC7-475F-BE81-D486D29D2D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7140" y="5291028"/>
            <a:ext cx="2042337" cy="463336"/>
          </a:xfrm>
          <a:prstGeom prst="rect">
            <a:avLst/>
          </a:prstGeom>
        </p:spPr>
      </p:pic>
      <p:sp>
        <p:nvSpPr>
          <p:cNvPr id="74" name="TXT_THEME_TAGLINE_1">
            <a:extLst>
              <a:ext uri="{FF2B5EF4-FFF2-40B4-BE49-F238E27FC236}">
                <a16:creationId xmlns:a16="http://schemas.microsoft.com/office/drawing/2014/main" id="{26C79725-DF39-433D-8249-2C61678623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96263" y="5306377"/>
            <a:ext cx="1838425" cy="27305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/>
              <a:t>Luther &amp; Reformation</a:t>
            </a:r>
            <a:endParaRPr lang="uk-UA" dirty="0"/>
          </a:p>
        </p:txBody>
      </p:sp>
      <p:sp>
        <p:nvSpPr>
          <p:cNvPr id="72" name="TXT_THEME_TAGLINE_2">
            <a:extLst>
              <a:ext uri="{FF2B5EF4-FFF2-40B4-BE49-F238E27FC236}">
                <a16:creationId xmlns:a16="http://schemas.microsoft.com/office/drawing/2014/main" id="{493220ED-3109-4B5C-B7FB-9B32ACC924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29095" y="5372569"/>
            <a:ext cx="1838425" cy="27305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Händelstadt</a:t>
            </a:r>
            <a:r>
              <a:rPr lang="en-US" dirty="0"/>
              <a:t> Halle</a:t>
            </a:r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E5E8C2-FAC1-D98F-E102-7EEEA5B890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  <p:sp>
        <p:nvSpPr>
          <p:cNvPr id="7" name="IMG_THEME_WORLD_PHOTO_1">
            <a:extLst>
              <a:ext uri="{FF2B5EF4-FFF2-40B4-BE49-F238E27FC236}">
                <a16:creationId xmlns:a16="http://schemas.microsoft.com/office/drawing/2014/main" id="{87DF57DF-42BC-B498-6A9D-E65C78BCA6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8799" y="1738800"/>
            <a:ext cx="3074400" cy="3075272"/>
          </a:xfrm>
        </p:spPr>
        <p:txBody>
          <a:bodyPr/>
          <a:lstStyle/>
          <a:p>
            <a:endParaRPr lang="ru-UA"/>
          </a:p>
        </p:txBody>
      </p:sp>
      <p:sp>
        <p:nvSpPr>
          <p:cNvPr id="8" name="IMG_THEME_WORLD_PHOTO_2">
            <a:extLst>
              <a:ext uri="{FF2B5EF4-FFF2-40B4-BE49-F238E27FC236}">
                <a16:creationId xmlns:a16="http://schemas.microsoft.com/office/drawing/2014/main" id="{7E744D5B-3A22-3C44-6E37-8311111CB6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951164" y="1738800"/>
            <a:ext cx="3074400" cy="3075272"/>
          </a:xfrm>
        </p:spPr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3461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4_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Jeder Markt bekommt seine eigene Welt.">
            <a:extLst>
              <a:ext uri="{FF2B5EF4-FFF2-40B4-BE49-F238E27FC236}">
                <a16:creationId xmlns:a16="http://schemas.microsoft.com/office/drawing/2014/main" id="{FD460311-F65C-7742-D0DE-7C137BBFFD60}"/>
              </a:ext>
            </a:extLst>
          </p:cNvPr>
          <p:cNvSpPr txBox="1"/>
          <p:nvPr userDrawn="1"/>
        </p:nvSpPr>
        <p:spPr>
          <a:xfrm>
            <a:off x="543599" y="349200"/>
            <a:ext cx="73106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00" b="1" baseline="0" dirty="0">
                <a:latin typeface="Helvetica Neue" panose="02000806000000020004" pitchFamily="2"/>
              </a:rPr>
              <a:t>Jeder Markt bekommt seine eigene Welt.</a:t>
            </a:r>
            <a:endParaRPr lang="ru-UA" sz="2900" b="1" baseline="0" dirty="0"/>
          </a:p>
        </p:txBody>
      </p:sp>
      <p:sp>
        <p:nvSpPr>
          <p:cNvPr id="7" name="Wir entwickeln Hüttendesign">
            <a:extLst>
              <a:ext uri="{FF2B5EF4-FFF2-40B4-BE49-F238E27FC236}">
                <a16:creationId xmlns:a16="http://schemas.microsoft.com/office/drawing/2014/main" id="{688ED1CE-4B6F-BB35-AD1A-A8D9DABBA3C8}"/>
              </a:ext>
            </a:extLst>
          </p:cNvPr>
          <p:cNvSpPr txBox="1"/>
          <p:nvPr userDrawn="1"/>
        </p:nvSpPr>
        <p:spPr>
          <a:xfrm>
            <a:off x="568799" y="1284282"/>
            <a:ext cx="7102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latin typeface="Myriad Pro" panose="020B0503030403020204" pitchFamily="34" charset="0"/>
              </a:rPr>
              <a:t>Wir </a:t>
            </a:r>
            <a:r>
              <a:rPr lang="en-US" sz="1200" baseline="0" dirty="0" err="1">
                <a:latin typeface="Myriad Pro" panose="020B0503030403020204" pitchFamily="34" charset="0"/>
              </a:rPr>
              <a:t>entwickeln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Hüttendesign</a:t>
            </a:r>
            <a:r>
              <a:rPr lang="en-US" sz="1200" baseline="0" dirty="0">
                <a:latin typeface="Myriad Pro" panose="020B0503030403020204" pitchFamily="34" charset="0"/>
              </a:rPr>
              <a:t>, </a:t>
            </a:r>
            <a:r>
              <a:rPr lang="en-US" sz="1200" baseline="0" dirty="0" err="1">
                <a:latin typeface="Myriad Pro" panose="020B0503030403020204" pitchFamily="34" charset="0"/>
              </a:rPr>
              <a:t>Masken</a:t>
            </a:r>
            <a:r>
              <a:rPr lang="en-US" sz="1200" baseline="0" dirty="0">
                <a:latin typeface="Myriad Pro" panose="020B0503030403020204" pitchFamily="34" charset="0"/>
              </a:rPr>
              <a:t>, und </a:t>
            </a:r>
            <a:r>
              <a:rPr lang="en-US" sz="1200" baseline="0" dirty="0" err="1">
                <a:latin typeface="Myriad Pro" panose="020B0503030403020204" pitchFamily="34" charset="0"/>
              </a:rPr>
              <a:t>Erlebniswelt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individuell</a:t>
            </a:r>
            <a:r>
              <a:rPr lang="en-US" sz="1200" baseline="0" dirty="0">
                <a:latin typeface="Myriad Pro" panose="020B0503030403020204" pitchFamily="34" charset="0"/>
              </a:rPr>
              <a:t> – </a:t>
            </a:r>
            <a:r>
              <a:rPr lang="en-US" sz="1200" baseline="0" dirty="0" err="1">
                <a:latin typeface="Myriad Pro" panose="020B0503030403020204" pitchFamily="34" charset="0"/>
              </a:rPr>
              <a:t>passend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zur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Identität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Ihres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Markts</a:t>
            </a:r>
            <a:r>
              <a:rPr lang="en-US" sz="1200" baseline="0" dirty="0">
                <a:latin typeface="Myriad Pro" panose="020B0503030403020204" pitchFamily="34" charset="0"/>
              </a:rPr>
              <a:t>.</a:t>
            </a:r>
            <a:endParaRPr lang="ru-UA" sz="1200" baseline="0" dirty="0">
              <a:latin typeface="Myriad Pro" panose="020B0503030403020204" pitchFamily="34" charset="0"/>
            </a:endParaRPr>
          </a:p>
        </p:txBody>
      </p:sp>
      <p:sp>
        <p:nvSpPr>
          <p:cNvPr id="8" name="Підпис 1">
            <a:extLst>
              <a:ext uri="{FF2B5EF4-FFF2-40B4-BE49-F238E27FC236}">
                <a16:creationId xmlns:a16="http://schemas.microsoft.com/office/drawing/2014/main" id="{87FD8A48-131A-726B-10EA-5A5EC20D87BC}"/>
              </a:ext>
            </a:extLst>
          </p:cNvPr>
          <p:cNvSpPr txBox="1"/>
          <p:nvPr userDrawn="1"/>
        </p:nvSpPr>
        <p:spPr>
          <a:xfrm>
            <a:off x="615252" y="3454635"/>
            <a:ext cx="3391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+mj-lt"/>
              </a:rPr>
              <a:t>Historischer Markt —</a:t>
            </a:r>
            <a:r>
              <a:rPr lang="de-DE" sz="1000" b="0" i="0" baseline="0" dirty="0">
                <a:latin typeface="Myriad Pro" panose="020B0503030403020204" pitchFamily="34" charset="0"/>
              </a:rPr>
              <a:t> Mozart · Komponist · Hofmusiker.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9" name="Підпис 2">
            <a:extLst>
              <a:ext uri="{FF2B5EF4-FFF2-40B4-BE49-F238E27FC236}">
                <a16:creationId xmlns:a16="http://schemas.microsoft.com/office/drawing/2014/main" id="{93D3F522-7E33-6967-C337-16CF3B049ACF}"/>
              </a:ext>
            </a:extLst>
          </p:cNvPr>
          <p:cNvSpPr txBox="1"/>
          <p:nvPr userDrawn="1"/>
        </p:nvSpPr>
        <p:spPr>
          <a:xfrm>
            <a:off x="6335999" y="3336645"/>
            <a:ext cx="37729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+mj-lt"/>
              </a:rPr>
              <a:t>Märchenmarkt — </a:t>
            </a:r>
            <a:r>
              <a:rPr lang="de-DE" sz="1000" b="0" i="0" baseline="0" dirty="0">
                <a:latin typeface="Myriad Pro" panose="020B0503030403020204" pitchFamily="34" charset="0"/>
              </a:rPr>
              <a:t>Das tapfere Schneiderlein · Prinzessin · König.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10" name="Підпис 3">
            <a:extLst>
              <a:ext uri="{FF2B5EF4-FFF2-40B4-BE49-F238E27FC236}">
                <a16:creationId xmlns:a16="http://schemas.microsoft.com/office/drawing/2014/main" id="{62193309-A7CE-EFAF-C82B-65950FCAF4D2}"/>
              </a:ext>
            </a:extLst>
          </p:cNvPr>
          <p:cNvSpPr txBox="1"/>
          <p:nvPr userDrawn="1"/>
        </p:nvSpPr>
        <p:spPr>
          <a:xfrm>
            <a:off x="691110" y="5524879"/>
            <a:ext cx="40926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+mj-lt"/>
              </a:rPr>
              <a:t>Barock</a:t>
            </a:r>
            <a:r>
              <a:rPr lang="en-US" sz="1000" b="1" dirty="0">
                <a:latin typeface="+mj-lt"/>
              </a:rPr>
              <a:t> &amp; Schloss — </a:t>
            </a:r>
            <a:r>
              <a:rPr lang="en-US" sz="1000" b="0" i="0" baseline="0" dirty="0">
                <a:latin typeface="Myriad Pro" panose="020B0503030403020204" pitchFamily="34" charset="0"/>
              </a:rPr>
              <a:t>Markgraf · </a:t>
            </a:r>
            <a:r>
              <a:rPr lang="en-US" sz="1000" b="0" i="0" baseline="0" dirty="0" err="1">
                <a:latin typeface="Myriad Pro" panose="020B0503030403020204" pitchFamily="34" charset="0"/>
              </a:rPr>
              <a:t>Hofdame</a:t>
            </a:r>
            <a:r>
              <a:rPr lang="en-US" sz="1000" b="0" i="0" baseline="0" dirty="0">
                <a:latin typeface="Myriad Pro" panose="020B0503030403020204" pitchFamily="34" charset="0"/>
              </a:rPr>
              <a:t> · </a:t>
            </a:r>
            <a:r>
              <a:rPr lang="en-US" sz="1000" b="0" i="0" baseline="0" dirty="0" err="1">
                <a:latin typeface="Myriad Pro" panose="020B0503030403020204" pitchFamily="34" charset="0"/>
              </a:rPr>
              <a:t>Venezianische</a:t>
            </a:r>
            <a:r>
              <a:rPr lang="en-US" sz="1000" b="0" i="0" baseline="0" dirty="0">
                <a:latin typeface="Myriad Pro" panose="020B0503030403020204" pitchFamily="34" charset="0"/>
              </a:rPr>
              <a:t> </a:t>
            </a:r>
            <a:r>
              <a:rPr lang="en-US" sz="1000" b="0" i="0" baseline="0" dirty="0" err="1">
                <a:latin typeface="Myriad Pro" panose="020B0503030403020204" pitchFamily="34" charset="0"/>
              </a:rPr>
              <a:t>Maskenfigur</a:t>
            </a:r>
            <a:r>
              <a:rPr lang="en-US" sz="1000" b="0" i="0" baseline="0" dirty="0">
                <a:latin typeface="Myriad Pro" panose="020B0503030403020204" pitchFamily="34" charset="0"/>
              </a:rPr>
              <a:t>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A00EF-52FD-40E2-8F31-4146A4517B38}"/>
              </a:ext>
            </a:extLst>
          </p:cNvPr>
          <p:cNvSpPr txBox="1"/>
          <p:nvPr userDrawn="1"/>
        </p:nvSpPr>
        <p:spPr>
          <a:xfrm>
            <a:off x="6422625" y="5580463"/>
            <a:ext cx="4222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+mj-lt"/>
              </a:rPr>
              <a:t>Regionale Identität — </a:t>
            </a:r>
            <a:r>
              <a:rPr lang="de-DE" sz="1000" b="0" i="0" baseline="0" dirty="0">
                <a:latin typeface="Myriad Pro" panose="020B0503030403020204" pitchFamily="34" charset="0"/>
              </a:rPr>
              <a:t>Erzgebirgsmännchen · Bergmann · Winzermeister.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85AB39-E192-49C5-BEC4-C947BA7279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9" y="884173"/>
            <a:ext cx="7285416" cy="40538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1309D96-A15B-4243-8E27-75A0569C73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47" y="1739162"/>
            <a:ext cx="4148961" cy="15974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227FDF1-9027-4DD6-812B-2636F5EB6C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999" y="1739162"/>
            <a:ext cx="4003708" cy="15199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CF26065-4691-4B23-8F1B-CB4E810159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48" y="3853374"/>
            <a:ext cx="4216338" cy="15974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C241756-2C22-4D30-9926-5AB93F7055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999" y="3853374"/>
            <a:ext cx="4003708" cy="16166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29" name="Пряма сполучна лінія 28">
            <a:extLst>
              <a:ext uri="{FF2B5EF4-FFF2-40B4-BE49-F238E27FC236}">
                <a16:creationId xmlns:a16="http://schemas.microsoft.com/office/drawing/2014/main" id="{B40FBB5E-0D3D-4D87-B0B6-766177CA7348}"/>
              </a:ext>
            </a:extLst>
          </p:cNvPr>
          <p:cNvCxnSpPr/>
          <p:nvPr userDrawn="1"/>
        </p:nvCxnSpPr>
        <p:spPr>
          <a:xfrm>
            <a:off x="0" y="6076604"/>
            <a:ext cx="12261273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FCA37A-73A6-89B3-E056-891F9D201BB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  <p:sp>
        <p:nvSpPr>
          <p:cNvPr id="12" name="TXT_REFERENCES_FOOTER">
            <a:extLst>
              <a:ext uri="{FF2B5EF4-FFF2-40B4-BE49-F238E27FC236}">
                <a16:creationId xmlns:a16="http://schemas.microsoft.com/office/drawing/2014/main" id="{950DAE5B-39C5-7509-A586-994B170E8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200" y="6159600"/>
            <a:ext cx="6652800" cy="522000"/>
          </a:xfrm>
        </p:spPr>
        <p:txBody>
          <a:bodyPr/>
          <a:lstStyle>
            <a:lvl1pPr>
              <a:buNone/>
              <a:defRPr sz="1000" baseline="0"/>
            </a:lvl1pPr>
            <a:lvl2pPr>
              <a:buNone/>
              <a:defRPr sz="1000" baseline="0"/>
            </a:lvl2pPr>
            <a:lvl3pPr>
              <a:buNone/>
              <a:defRPr sz="1000" baseline="0"/>
            </a:lvl3pPr>
            <a:lvl4pPr>
              <a:buNone/>
              <a:defRPr sz="1000" baseline="0"/>
            </a:lvl4pPr>
            <a:lvl5pPr>
              <a:buNone/>
              <a:defRPr sz="1000" baseline="0"/>
            </a:lvl5pPr>
          </a:lstStyle>
          <a:p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Striezelmarkt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Dresden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Salzburger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Christkindlmarkt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 Berliner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Weihnachtszeit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Weihnachtsmarkt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Wiesbaden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K</a:t>
            </a:r>
            <a:r>
              <a:rPr lang="de-DE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ölner</a:t>
            </a:r>
            <a:r>
              <a:rPr lang="de-DE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Dom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Tower Bridge London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Checkpoint Charlie Berlin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Wiener Prater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und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viele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mehr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.</a:t>
            </a:r>
            <a:endParaRPr lang="ru-UA" sz="1000" b="0" i="0" baseline="0" dirty="0">
              <a:latin typeface="Bahnschrift SemiLight" panose="020B0502040204020203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28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5_USER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line">
            <a:extLst>
              <a:ext uri="{FF2B5EF4-FFF2-40B4-BE49-F238E27FC236}">
                <a16:creationId xmlns:a16="http://schemas.microsoft.com/office/drawing/2014/main" id="{D21688B1-C3B6-3A71-B769-0AAD520F755D}"/>
              </a:ext>
            </a:extLst>
          </p:cNvPr>
          <p:cNvSpPr txBox="1"/>
          <p:nvPr userDrawn="1"/>
        </p:nvSpPr>
        <p:spPr>
          <a:xfrm>
            <a:off x="478799" y="352800"/>
            <a:ext cx="5440738" cy="1440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20" b="1" baseline="0" dirty="0">
                <a:latin typeface="Helvetica Neue" panose="02000806000000020004" pitchFamily="2"/>
              </a:rPr>
              <a:t>Für Ihre Besucher:</a:t>
            </a:r>
            <a:endParaRPr lang="uk-UA" sz="2920" b="1" baseline="0" dirty="0"/>
          </a:p>
          <a:p>
            <a:r>
              <a:rPr lang="de-DE" sz="2920" b="1" baseline="0" dirty="0">
                <a:latin typeface="Helvetica Neue" panose="02000806000000020004" pitchFamily="2"/>
              </a:rPr>
              <a:t>drei Schritte — ein</a:t>
            </a:r>
            <a:endParaRPr lang="uk-UA" sz="2920" b="1" baseline="0" dirty="0"/>
          </a:p>
          <a:p>
            <a:r>
              <a:rPr lang="de-DE" sz="2920" b="1" baseline="0" dirty="0">
                <a:latin typeface="Helvetica Neue" panose="02000806000000020004" pitchFamily="2"/>
              </a:rPr>
              <a:t>unvergesslicher Moment.</a:t>
            </a:r>
            <a:endParaRPr lang="ru-UA" sz="2920" b="1" baseline="0" dirty="0"/>
          </a:p>
        </p:txBody>
      </p:sp>
      <p:sp>
        <p:nvSpPr>
          <p:cNvPr id="8" name="Step 1 label">
            <a:extLst>
              <a:ext uri="{FF2B5EF4-FFF2-40B4-BE49-F238E27FC236}">
                <a16:creationId xmlns:a16="http://schemas.microsoft.com/office/drawing/2014/main" id="{84222B2E-F0B8-3383-D298-1B8BC1650184}"/>
              </a:ext>
            </a:extLst>
          </p:cNvPr>
          <p:cNvSpPr txBox="1"/>
          <p:nvPr userDrawn="1"/>
        </p:nvSpPr>
        <p:spPr>
          <a:xfrm>
            <a:off x="1368000" y="2341669"/>
            <a:ext cx="183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i="0" baseline="0" dirty="0">
                <a:latin typeface="Helvetica Neue" panose="02000806000000020004" pitchFamily="2"/>
              </a:rPr>
              <a:t>Maske wählen — </a:t>
            </a:r>
            <a:br>
              <a:rPr lang="de-DE" sz="1000" b="1" i="0" baseline="0" dirty="0">
                <a:latin typeface="Helvetica Neue" panose="02000806000000020004" pitchFamily="2"/>
              </a:rPr>
            </a:br>
            <a:r>
              <a:rPr lang="de-DE" sz="1000" b="0" baseline="0" dirty="0">
                <a:latin typeface="Myriad Pro" panose="020B0503030403020204" pitchFamily="34" charset="0"/>
              </a:rPr>
              <a:t>aus verschiedenen Stilen </a:t>
            </a:r>
            <a:br>
              <a:rPr lang="de-DE" sz="1000" b="0" baseline="0" dirty="0">
                <a:latin typeface="Myriad Pro" panose="020B0503030403020204" pitchFamily="34" charset="0"/>
              </a:rPr>
            </a:br>
            <a:r>
              <a:rPr lang="en-US" sz="1000" b="0" baseline="0" dirty="0">
                <a:latin typeface="Myriad Pro" panose="020B0503030403020204" pitchFamily="34" charset="0"/>
              </a:rPr>
              <a:t>und</a:t>
            </a:r>
            <a:r>
              <a:rPr lang="de-DE" sz="1000" b="0" baseline="0" dirty="0">
                <a:latin typeface="Myriad Pro" panose="020B0503030403020204" pitchFamily="34" charset="0"/>
              </a:rPr>
              <a:t> Erlebniswelten.</a:t>
            </a:r>
            <a:endParaRPr lang="ru-UA" sz="1000" b="0" baseline="0" dirty="0">
              <a:latin typeface="Myriad Pro" panose="020B0503030403020204" pitchFamily="34" charset="0"/>
            </a:endParaRPr>
          </a:p>
        </p:txBody>
      </p:sp>
      <p:sp>
        <p:nvSpPr>
          <p:cNvPr id="9" name="Step 2 label">
            <a:extLst>
              <a:ext uri="{FF2B5EF4-FFF2-40B4-BE49-F238E27FC236}">
                <a16:creationId xmlns:a16="http://schemas.microsoft.com/office/drawing/2014/main" id="{B0753448-C428-2C3E-B68A-03F82BF063B8}"/>
              </a:ext>
            </a:extLst>
          </p:cNvPr>
          <p:cNvSpPr txBox="1"/>
          <p:nvPr userDrawn="1"/>
        </p:nvSpPr>
        <p:spPr>
          <a:xfrm>
            <a:off x="1368000" y="3302869"/>
            <a:ext cx="2702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baseline="0" dirty="0">
                <a:latin typeface="Helvetica Neue" panose="02000806000000020004" pitchFamily="2"/>
              </a:rPr>
              <a:t>Szene wählen — </a:t>
            </a:r>
            <a:br>
              <a:rPr lang="de-DE" sz="1000" b="1" baseline="0" dirty="0">
                <a:latin typeface="Helvetica Neue" panose="02000806000000020004" pitchFamily="2"/>
              </a:rPr>
            </a:br>
            <a:r>
              <a:rPr lang="de-DE" sz="1000" b="0" baseline="0" dirty="0">
                <a:latin typeface="Helvetica Neue" panose="02000806000000020004" pitchFamily="2"/>
              </a:rPr>
              <a:t>passend zu Ihrem Event</a:t>
            </a:r>
            <a:r>
              <a:rPr lang="de-DE" sz="1000" b="1" baseline="0" dirty="0">
                <a:latin typeface="Helvetica Neue" panose="02000806000000020004" pitchFamily="2"/>
              </a:rPr>
              <a:t>, </a:t>
            </a:r>
            <a:br>
              <a:rPr lang="de-DE" sz="1000" b="1" baseline="0" dirty="0">
                <a:latin typeface="Helvetica Neue" panose="02000806000000020004" pitchFamily="2"/>
              </a:rPr>
            </a:br>
            <a:r>
              <a:rPr lang="de-DE" sz="1000" baseline="0" dirty="0">
                <a:latin typeface="Myriad Pro" panose="020B0503030403020204" pitchFamily="34" charset="0"/>
              </a:rPr>
              <a:t>Ihrer Location, Ihre</a:t>
            </a:r>
            <a:r>
              <a:rPr lang="en-US" sz="1000" baseline="0" dirty="0">
                <a:latin typeface="Myriad Pro" panose="020B0503030403020204" pitchFamily="34" charset="0"/>
              </a:rPr>
              <a:t>r</a:t>
            </a:r>
            <a:r>
              <a:rPr lang="de-DE" sz="1000" baseline="0" dirty="0">
                <a:latin typeface="Myriad Pro" panose="020B0503030403020204" pitchFamily="34" charset="0"/>
              </a:rPr>
              <a:t> Atmosphäre.</a:t>
            </a:r>
            <a:endParaRPr lang="ru-UA" sz="1000" baseline="0" dirty="0">
              <a:latin typeface="Myriad Pro" panose="020B0503030403020204" pitchFamily="34" charset="0"/>
            </a:endParaRPr>
          </a:p>
        </p:txBody>
      </p:sp>
      <p:sp>
        <p:nvSpPr>
          <p:cNvPr id="10" name="Step 3 label">
            <a:extLst>
              <a:ext uri="{FF2B5EF4-FFF2-40B4-BE49-F238E27FC236}">
                <a16:creationId xmlns:a16="http://schemas.microsoft.com/office/drawing/2014/main" id="{33BBBA16-2175-5C8C-0E33-022F837B3497}"/>
              </a:ext>
            </a:extLst>
          </p:cNvPr>
          <p:cNvSpPr txBox="1"/>
          <p:nvPr userDrawn="1"/>
        </p:nvSpPr>
        <p:spPr>
          <a:xfrm>
            <a:off x="1368000" y="4264069"/>
            <a:ext cx="2073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i="0" baseline="0" dirty="0">
                <a:latin typeface="Helvetica Neue" panose="02000806000000020004" pitchFamily="2"/>
              </a:rPr>
              <a:t>Foto machen — </a:t>
            </a:r>
            <a:br>
              <a:rPr lang="de-DE" sz="1000" b="1" i="0" baseline="0" dirty="0">
                <a:latin typeface="Helvetica Neue" panose="02000806000000020004" pitchFamily="2"/>
              </a:rPr>
            </a:br>
            <a:r>
              <a:rPr lang="de-DE" sz="1000" baseline="0" dirty="0">
                <a:latin typeface="Myriad Pro" panose="020B0503030403020204" pitchFamily="34" charset="0"/>
              </a:rPr>
              <a:t>fertig. Das persönliche </a:t>
            </a:r>
            <a:br>
              <a:rPr lang="de-DE" sz="1000" baseline="0" dirty="0">
                <a:latin typeface="Myriad Pro" panose="020B0503030403020204" pitchFamily="34" charset="0"/>
              </a:rPr>
            </a:br>
            <a:r>
              <a:rPr lang="de-DE" sz="1000" baseline="0" dirty="0">
                <a:latin typeface="Myriad Pro" panose="020B0503030403020204" pitchFamily="34" charset="0"/>
              </a:rPr>
              <a:t>Erinnerungsstück ist sofort da.</a:t>
            </a:r>
            <a:endParaRPr lang="ru-UA" sz="1000" baseline="0" dirty="0">
              <a:latin typeface="Myriad Pro" panose="020B0503030403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360764-500E-4F6E-8122-B5E3B51F96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11" y="2231068"/>
            <a:ext cx="798578" cy="8046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0295C6-D29B-4BF7-A0CD-804DF24371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" y="3168397"/>
            <a:ext cx="798578" cy="80467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3D132E-D235-4ADC-B849-A3BC6141D3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" y="4105726"/>
            <a:ext cx="798578" cy="804674"/>
          </a:xfrm>
          <a:prstGeom prst="rect">
            <a:avLst/>
          </a:prstGeom>
        </p:spPr>
      </p:pic>
      <p:cxnSp>
        <p:nvCxnSpPr>
          <p:cNvPr id="24" name="Пряма сполучна лінія 23">
            <a:extLst>
              <a:ext uri="{FF2B5EF4-FFF2-40B4-BE49-F238E27FC236}">
                <a16:creationId xmlns:a16="http://schemas.microsoft.com/office/drawing/2014/main" id="{F81EFCA0-477E-459F-A981-A882537889C3}"/>
              </a:ext>
            </a:extLst>
          </p:cNvPr>
          <p:cNvCxnSpPr/>
          <p:nvPr userDrawn="1"/>
        </p:nvCxnSpPr>
        <p:spPr>
          <a:xfrm>
            <a:off x="43362" y="6184669"/>
            <a:ext cx="12261273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Step 2 label">
            <a:extLst>
              <a:ext uri="{FF2B5EF4-FFF2-40B4-BE49-F238E27FC236}">
                <a16:creationId xmlns:a16="http://schemas.microsoft.com/office/drawing/2014/main" id="{5C702961-CA11-46F1-8C66-A06BCCC74715}"/>
              </a:ext>
            </a:extLst>
          </p:cNvPr>
          <p:cNvSpPr txBox="1"/>
          <p:nvPr userDrawn="1"/>
        </p:nvSpPr>
        <p:spPr>
          <a:xfrm>
            <a:off x="298296" y="5199598"/>
            <a:ext cx="3516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 err="1">
                <a:latin typeface="Myriad Pro" panose="020B0503030403020204" pitchFamily="34" charset="0"/>
              </a:rPr>
              <a:t>Keine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Einweisung</a:t>
            </a:r>
            <a:r>
              <a:rPr lang="en-US" sz="1200" baseline="0" dirty="0">
                <a:latin typeface="Myriad Pro" panose="020B0503030403020204" pitchFamily="34" charset="0"/>
              </a:rPr>
              <a:t>, </a:t>
            </a:r>
            <a:r>
              <a:rPr lang="en-US" sz="1200" baseline="0" dirty="0" err="1">
                <a:latin typeface="Myriad Pro" panose="020B0503030403020204" pitchFamily="34" charset="0"/>
              </a:rPr>
              <a:t>keine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Wartezeit</a:t>
            </a:r>
            <a:r>
              <a:rPr lang="en-US" sz="1200" baseline="0" dirty="0">
                <a:latin typeface="Myriad Pro" panose="020B0503030403020204" pitchFamily="34" charset="0"/>
              </a:rPr>
              <a:t>, </a:t>
            </a:r>
            <a:r>
              <a:rPr lang="en-US" sz="1200" baseline="0" dirty="0" err="1">
                <a:latin typeface="Myriad Pro" panose="020B0503030403020204" pitchFamily="34" charset="0"/>
              </a:rPr>
              <a:t>keine</a:t>
            </a:r>
            <a:r>
              <a:rPr lang="en-US" sz="1200" baseline="0" dirty="0">
                <a:latin typeface="Myriad Pro" panose="020B0503030403020204" pitchFamily="34" charset="0"/>
              </a:rPr>
              <a:t> Technik </a:t>
            </a:r>
            <a:r>
              <a:rPr lang="en-US" sz="1200" baseline="0" dirty="0" err="1">
                <a:latin typeface="Myriad Pro" panose="020B0503030403020204" pitchFamily="34" charset="0"/>
              </a:rPr>
              <a:t>für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Ihr</a:t>
            </a:r>
            <a:r>
              <a:rPr lang="en-US" sz="1200" baseline="0" dirty="0">
                <a:latin typeface="Myriad Pro" panose="020B0503030403020204" pitchFamily="34" charset="0"/>
              </a:rPr>
              <a:t> Team </a:t>
            </a:r>
            <a:r>
              <a:rPr lang="de-DE" sz="1200" b="0" i="0" baseline="0" dirty="0">
                <a:latin typeface="Helvetica Neue" panose="02000806000000020004" pitchFamily="2"/>
              </a:rPr>
              <a:t>— Ihre Besucher verstehen es sofort und genießen das Erlebnis.</a:t>
            </a:r>
            <a:endParaRPr lang="ru-UA" sz="1200" b="0" baseline="0" dirty="0">
              <a:latin typeface="Myriad Pro" panose="020B0503030403020204" pitchFamily="34" charset="0"/>
            </a:endParaRPr>
          </a:p>
        </p:txBody>
      </p:sp>
      <p:cxnSp>
        <p:nvCxnSpPr>
          <p:cNvPr id="28" name="Пряма сполучна лінія 27">
            <a:extLst>
              <a:ext uri="{FF2B5EF4-FFF2-40B4-BE49-F238E27FC236}">
                <a16:creationId xmlns:a16="http://schemas.microsoft.com/office/drawing/2014/main" id="{89C50B31-1DF5-4C93-83EE-671931049ADF}"/>
              </a:ext>
            </a:extLst>
          </p:cNvPr>
          <p:cNvCxnSpPr>
            <a:cxnSpLocks/>
          </p:cNvCxnSpPr>
          <p:nvPr userDrawn="1"/>
        </p:nvCxnSpPr>
        <p:spPr>
          <a:xfrm>
            <a:off x="1270535" y="3168397"/>
            <a:ext cx="2415941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 сполучна лінія 29">
            <a:extLst>
              <a:ext uri="{FF2B5EF4-FFF2-40B4-BE49-F238E27FC236}">
                <a16:creationId xmlns:a16="http://schemas.microsoft.com/office/drawing/2014/main" id="{06525717-8C40-471C-BD4C-4BC8E11842A9}"/>
              </a:ext>
            </a:extLst>
          </p:cNvPr>
          <p:cNvCxnSpPr>
            <a:cxnSpLocks/>
          </p:cNvCxnSpPr>
          <p:nvPr userDrawn="1"/>
        </p:nvCxnSpPr>
        <p:spPr>
          <a:xfrm>
            <a:off x="1270535" y="4105726"/>
            <a:ext cx="2415941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0D9953E-CFDB-4488-8AA6-B3E0D25B675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99" y="1745257"/>
            <a:ext cx="3891070" cy="315064"/>
          </a:xfrm>
          <a:prstGeom prst="rect">
            <a:avLst/>
          </a:prstGeom>
        </p:spPr>
      </p:pic>
      <p:sp>
        <p:nvSpPr>
          <p:cNvPr id="4" name="IMG_KIOSK_SCREENSHOT">
            <a:extLst>
              <a:ext uri="{FF2B5EF4-FFF2-40B4-BE49-F238E27FC236}">
                <a16:creationId xmlns:a16="http://schemas.microsoft.com/office/drawing/2014/main" id="{6A6D618D-2069-7834-6055-EC4E9C1244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4800" y="424800"/>
            <a:ext cx="5605200" cy="3034800"/>
          </a:xfrm>
          <a:prstGeom prst="roundRect">
            <a:avLst>
              <a:gd name="adj" fmla="val 7132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4" name="IMG_USER_FLOW_CARD_2">
            <a:extLst>
              <a:ext uri="{FF2B5EF4-FFF2-40B4-BE49-F238E27FC236}">
                <a16:creationId xmlns:a16="http://schemas.microsoft.com/office/drawing/2014/main" id="{3DE37252-17F2-A18D-83D1-E1A2DE474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240000">
            <a:off x="7578000" y="3668400"/>
            <a:ext cx="3708000" cy="2084400"/>
          </a:xfrm>
          <a:prstGeom prst="roundRect">
            <a:avLst>
              <a:gd name="adj" fmla="val 8784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2" name="IMG_USER_FLOW_CARD_1">
            <a:extLst>
              <a:ext uri="{FF2B5EF4-FFF2-40B4-BE49-F238E27FC236}">
                <a16:creationId xmlns:a16="http://schemas.microsoft.com/office/drawing/2014/main" id="{8AD5BAB3-08B1-3939-1F4E-FAD9F05984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21420000">
            <a:off x="6311100" y="4118406"/>
            <a:ext cx="2415600" cy="1620000"/>
          </a:xfrm>
          <a:prstGeom prst="roundRect">
            <a:avLst>
              <a:gd name="adj" fmla="val 10735"/>
            </a:avLst>
          </a:prstGeom>
        </p:spPr>
        <p:txBody>
          <a:bodyPr/>
          <a:lstStyle/>
          <a:p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C28EE00-E002-5087-591E-187DC98FDCC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4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6_LOCAL_MO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_MOTIF_HEADLINE">
            <a:extLst>
              <a:ext uri="{FF2B5EF4-FFF2-40B4-BE49-F238E27FC236}">
                <a16:creationId xmlns:a16="http://schemas.microsoft.com/office/drawing/2014/main" id="{36C30D00-93A3-4E22-8A60-31A066430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381" y="196080"/>
            <a:ext cx="4089365" cy="719741"/>
          </a:xfrm>
        </p:spPr>
        <p:txBody>
          <a:bodyPr/>
          <a:lstStyle>
            <a:lvl1pPr algn="l">
              <a:buNone/>
              <a:defRPr sz="2200" b="1" baseline="0">
                <a:solidFill>
                  <a:srgbClr val="231F20"/>
                </a:solidFill>
              </a:defRPr>
            </a:lvl1pPr>
            <a:lvl2pPr>
              <a:buNone/>
              <a:defRPr sz="2480" baseline="0">
                <a:solidFill>
                  <a:srgbClr val="231F20"/>
                </a:solidFill>
              </a:defRPr>
            </a:lvl2pPr>
            <a:lvl3pPr>
              <a:buNone/>
              <a:defRPr sz="2480" baseline="0">
                <a:solidFill>
                  <a:srgbClr val="231F20"/>
                </a:solidFill>
              </a:defRPr>
            </a:lvl3pPr>
            <a:lvl4pPr>
              <a:buNone/>
              <a:defRPr sz="2480" baseline="0">
                <a:solidFill>
                  <a:srgbClr val="231F20"/>
                </a:solidFill>
              </a:defRPr>
            </a:lvl4pPr>
            <a:lvl5pPr>
              <a:buNone/>
              <a:defRPr sz="248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de-DE" dirty="0"/>
              <a:t>    Jede Karte ist ein Unikat </a:t>
            </a:r>
            <a:r>
              <a:rPr lang="de-DE" sz="2800" b="1" baseline="0" dirty="0">
                <a:latin typeface="Helvetica Neue" panose="02000806000000020004" pitchFamily="2"/>
              </a:rPr>
              <a:t>—</a:t>
            </a:r>
            <a:r>
              <a:rPr lang="de-DE" dirty="0"/>
              <a:t> und ein Grund zum Teilen.</a:t>
            </a:r>
            <a:endParaRPr lang="uk-UA" dirty="0"/>
          </a:p>
        </p:txBody>
      </p:sp>
      <p:sp>
        <p:nvSpPr>
          <p:cNvPr id="15" name="TXT_MOTIF_SUBHEADLINE">
            <a:extLst>
              <a:ext uri="{FF2B5EF4-FFF2-40B4-BE49-F238E27FC236}">
                <a16:creationId xmlns:a16="http://schemas.microsoft.com/office/drawing/2014/main" id="{5D94B055-A168-5625-12D4-2D458A552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6382" y="1112601"/>
            <a:ext cx="5244834" cy="386223"/>
          </a:xfrm>
        </p:spPr>
        <p:txBody>
          <a:bodyPr>
            <a:normAutofit/>
          </a:bodyPr>
          <a:lstStyle>
            <a:lvl1pPr>
              <a:buNone/>
              <a:defRPr sz="1050" baseline="0">
                <a:solidFill>
                  <a:srgbClr val="231F20"/>
                </a:solidFill>
              </a:defRPr>
            </a:lvl1pPr>
            <a:lvl2pPr>
              <a:buNone/>
              <a:defRPr sz="1430" baseline="0">
                <a:solidFill>
                  <a:srgbClr val="231F20"/>
                </a:solidFill>
              </a:defRPr>
            </a:lvl2pPr>
            <a:lvl3pPr>
              <a:buNone/>
              <a:defRPr sz="1430" baseline="0">
                <a:solidFill>
                  <a:srgbClr val="231F20"/>
                </a:solidFill>
              </a:defRPr>
            </a:lvl3pPr>
            <a:lvl4pPr>
              <a:buNone/>
              <a:defRPr sz="1430" baseline="0">
                <a:solidFill>
                  <a:srgbClr val="231F20"/>
                </a:solidFill>
              </a:defRPr>
            </a:lvl4pPr>
            <a:lvl5pPr>
              <a:buNone/>
              <a:defRPr sz="143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de-DE" dirty="0"/>
              <a:t>      Ein Event. Mehrere Erlebniswelten. Jedes Motiv erzählt eine eigene Geschichte – perfekt abgestimmt auf Ihre Veranstaltung.</a:t>
            </a:r>
            <a:endParaRPr lang="uk-UA" dirty="0"/>
          </a:p>
        </p:txBody>
      </p:sp>
      <p:sp>
        <p:nvSpPr>
          <p:cNvPr id="17" name="TXT_MOTIF_COLUMN_HEADER_1">
            <a:extLst>
              <a:ext uri="{FF2B5EF4-FFF2-40B4-BE49-F238E27FC236}">
                <a16:creationId xmlns:a16="http://schemas.microsoft.com/office/drawing/2014/main" id="{F10BC6DA-36B3-B4E5-680F-6924CD22C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33009" y="1818712"/>
            <a:ext cx="828000" cy="187200"/>
          </a:xfrm>
        </p:spPr>
        <p:txBody>
          <a:bodyPr/>
          <a:lstStyle>
            <a:lvl1pPr>
              <a:buNone/>
              <a:defRPr sz="117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 err="1"/>
              <a:t>Fotokarte</a:t>
            </a:r>
            <a:endParaRPr lang="ru-UA" dirty="0"/>
          </a:p>
        </p:txBody>
      </p:sp>
      <p:sp>
        <p:nvSpPr>
          <p:cNvPr id="19" name="TXT_MOTIF_COLUMN_HEADER_2">
            <a:extLst>
              <a:ext uri="{FF2B5EF4-FFF2-40B4-BE49-F238E27FC236}">
                <a16:creationId xmlns:a16="http://schemas.microsoft.com/office/drawing/2014/main" id="{4B4B0961-A4F9-7785-EEB8-D9FEDA9D92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44447" y="1801097"/>
            <a:ext cx="1103105" cy="193377"/>
          </a:xfrm>
        </p:spPr>
        <p:txBody>
          <a:bodyPr/>
          <a:lstStyle>
            <a:lvl1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118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dirty="0" err="1"/>
              <a:t>Hintergrund</a:t>
            </a:r>
            <a:endParaRPr lang="ru-UA" dirty="0"/>
          </a:p>
        </p:txBody>
      </p:sp>
      <p:sp>
        <p:nvSpPr>
          <p:cNvPr id="25" name="TXT_MOTIF_1_NAME">
            <a:extLst>
              <a:ext uri="{FF2B5EF4-FFF2-40B4-BE49-F238E27FC236}">
                <a16:creationId xmlns:a16="http://schemas.microsoft.com/office/drawing/2014/main" id="{C962E585-BC6A-437F-56ED-9EBF602855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153" y="2800872"/>
            <a:ext cx="1156500" cy="255600"/>
          </a:xfrm>
        </p:spPr>
        <p:txBody>
          <a:bodyPr/>
          <a:lstStyle>
            <a:lvl1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Der gestiefelte Kater</a:t>
            </a:r>
            <a:endParaRPr lang="en-US" dirty="0"/>
          </a:p>
          <a:p>
            <a:pPr lvl="0"/>
            <a:endParaRPr lang="uk-UA" dirty="0"/>
          </a:p>
        </p:txBody>
      </p:sp>
      <p:sp>
        <p:nvSpPr>
          <p:cNvPr id="26" name="TXT_MOTIF_2_NAME">
            <a:extLst>
              <a:ext uri="{FF2B5EF4-FFF2-40B4-BE49-F238E27FC236}">
                <a16:creationId xmlns:a16="http://schemas.microsoft.com/office/drawing/2014/main" id="{8D7654FD-3710-64A6-21C5-42749B6A42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897" y="4326496"/>
            <a:ext cx="772588" cy="233557"/>
          </a:xfrm>
        </p:spPr>
        <p:txBody>
          <a:bodyPr/>
          <a:lstStyle>
            <a:lvl1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Nussknacker</a:t>
            </a:r>
            <a:endParaRPr lang="en-US" dirty="0"/>
          </a:p>
          <a:p>
            <a:pPr lvl="0"/>
            <a:endParaRPr lang="uk-UA" dirty="0"/>
          </a:p>
        </p:txBody>
      </p:sp>
      <p:sp>
        <p:nvSpPr>
          <p:cNvPr id="27" name="TXT_MOTIF_3_NAME">
            <a:extLst>
              <a:ext uri="{FF2B5EF4-FFF2-40B4-BE49-F238E27FC236}">
                <a16:creationId xmlns:a16="http://schemas.microsoft.com/office/drawing/2014/main" id="{7241013F-BB8B-DAFA-7457-EB1A73F821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4374" y="5611937"/>
            <a:ext cx="852676" cy="255600"/>
          </a:xfrm>
        </p:spPr>
        <p:txBody>
          <a:bodyPr/>
          <a:lstStyle>
            <a:lvl1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Rotkäppchen</a:t>
            </a:r>
            <a:endParaRPr lang="en-US" dirty="0"/>
          </a:p>
          <a:p>
            <a:pPr lvl="0"/>
            <a:endParaRPr lang="uk-UA" dirty="0"/>
          </a:p>
        </p:txBody>
      </p:sp>
      <p:sp>
        <p:nvSpPr>
          <p:cNvPr id="31" name="IMG_MOTIF_1_PHOTO">
            <a:extLst>
              <a:ext uri="{FF2B5EF4-FFF2-40B4-BE49-F238E27FC236}">
                <a16:creationId xmlns:a16="http://schemas.microsoft.com/office/drawing/2014/main" id="{62B219E3-1E42-91D4-A426-7F00E974FDF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12800" y="2216045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3" name="IMG_MOTIF_1_BACKGROUND">
            <a:extLst>
              <a:ext uri="{FF2B5EF4-FFF2-40B4-BE49-F238E27FC236}">
                <a16:creationId xmlns:a16="http://schemas.microsoft.com/office/drawing/2014/main" id="{2D2D4949-E3F2-C23B-4310-445056A8B5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748399" y="2220156"/>
            <a:ext cx="2469600" cy="1208844"/>
          </a:xfrm>
          <a:prstGeom prst="roundRect">
            <a:avLst/>
          </a:prstGeom>
        </p:spPr>
        <p:txBody>
          <a:bodyPr/>
          <a:lstStyle/>
          <a:p>
            <a:endParaRPr lang="ru-UA"/>
          </a:p>
        </p:txBody>
      </p:sp>
      <p:sp>
        <p:nvSpPr>
          <p:cNvPr id="35" name="IMG_MOTIF_1_MASK">
            <a:extLst>
              <a:ext uri="{FF2B5EF4-FFF2-40B4-BE49-F238E27FC236}">
                <a16:creationId xmlns:a16="http://schemas.microsoft.com/office/drawing/2014/main" id="{8E098B13-ABE9-2F3F-C2D3-6B0A5A4B627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38800" y="2198021"/>
            <a:ext cx="2469600" cy="123766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7" name="IMG_MOTIF_2_PHOTO">
            <a:extLst>
              <a:ext uri="{FF2B5EF4-FFF2-40B4-BE49-F238E27FC236}">
                <a16:creationId xmlns:a16="http://schemas.microsoft.com/office/drawing/2014/main" id="{5DB5C86A-F711-1BC6-EFEB-670FEDE781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12800" y="3571200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9" name="IMG_MOTIF_2_BACKGROUND">
            <a:extLst>
              <a:ext uri="{FF2B5EF4-FFF2-40B4-BE49-F238E27FC236}">
                <a16:creationId xmlns:a16="http://schemas.microsoft.com/office/drawing/2014/main" id="{1AE5AD94-51B2-3FE1-F876-774397D828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48400" y="3566313"/>
            <a:ext cx="2460376" cy="1253309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41" name="IMG_MOTIF_2_MASK">
            <a:extLst>
              <a:ext uri="{FF2B5EF4-FFF2-40B4-BE49-F238E27FC236}">
                <a16:creationId xmlns:a16="http://schemas.microsoft.com/office/drawing/2014/main" id="{E06252D1-117D-D50C-F31A-30688567762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038799" y="3566313"/>
            <a:ext cx="2469600" cy="1253309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43" name="IMG_MOTIF_3_PHOTO">
            <a:extLst>
              <a:ext uri="{FF2B5EF4-FFF2-40B4-BE49-F238E27FC236}">
                <a16:creationId xmlns:a16="http://schemas.microsoft.com/office/drawing/2014/main" id="{1AF4C320-E0F4-8D35-AB7E-39ABA552054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12800" y="4986921"/>
            <a:ext cx="2469600" cy="113307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45" name="IMG_MOTIF_3_BACKGROUND">
            <a:extLst>
              <a:ext uri="{FF2B5EF4-FFF2-40B4-BE49-F238E27FC236}">
                <a16:creationId xmlns:a16="http://schemas.microsoft.com/office/drawing/2014/main" id="{E013E4AB-5C01-4C91-69BD-8D27BAEB6C5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48400" y="4950246"/>
            <a:ext cx="2469600" cy="1169753"/>
          </a:xfrm>
          <a:prstGeom prst="round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ru-UA" dirty="0"/>
          </a:p>
        </p:txBody>
      </p:sp>
      <p:sp>
        <p:nvSpPr>
          <p:cNvPr id="47" name="IMG_MOTIF_3_MASK">
            <a:extLst>
              <a:ext uri="{FF2B5EF4-FFF2-40B4-BE49-F238E27FC236}">
                <a16:creationId xmlns:a16="http://schemas.microsoft.com/office/drawing/2014/main" id="{CAE27978-B1B0-FE06-8660-9091E847526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038799" y="4932000"/>
            <a:ext cx="2469600" cy="1188000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" name="TXT_MOTIF_COLUMN_HEADER_3">
            <a:extLst>
              <a:ext uri="{FF2B5EF4-FFF2-40B4-BE49-F238E27FC236}">
                <a16:creationId xmlns:a16="http://schemas.microsoft.com/office/drawing/2014/main" id="{D2DBDF7A-D064-41C2-178D-01EDB7BC3F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6991" y="1805585"/>
            <a:ext cx="972000" cy="176324"/>
          </a:xfrm>
        </p:spPr>
        <p:txBody>
          <a:bodyPr/>
          <a:lstStyle>
            <a:lvl1pPr>
              <a:buNone/>
              <a:defRPr sz="1180" baseline="0">
                <a:latin typeface="Myriad Pro" panose="020B0503030403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AR-</a:t>
            </a:r>
            <a:r>
              <a:rPr lang="en-US" dirty="0" err="1"/>
              <a:t>Maske</a:t>
            </a:r>
            <a:endParaRPr lang="ru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FBAF1B-7D8C-4DF1-9D82-3CB3717C5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99" y="810328"/>
            <a:ext cx="4266000" cy="4053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8FA7F-4EA6-47CF-B7C8-4CB8160C40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67" y="2204709"/>
            <a:ext cx="603617" cy="608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0C58AC4-B3B2-4CE1-BA0D-CD0AE284A4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99" y="3669910"/>
            <a:ext cx="666196" cy="67128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E7F3AA5-BCE0-46F8-9654-1B70AEE96C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65" y="4979692"/>
            <a:ext cx="673130" cy="678268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FCBB66A-F126-425F-B44C-C4B0EF2CC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337" y="2008949"/>
            <a:ext cx="1648974" cy="156697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EDC9C9C4-0A87-4E2C-9D51-53D9782FE1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712" y="1984140"/>
            <a:ext cx="1648974" cy="156697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972D92D-A59A-4367-ADE7-AFD1183A7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112" y="1984139"/>
            <a:ext cx="1648974" cy="156697"/>
          </a:xfrm>
          <a:prstGeom prst="rect">
            <a:avLst/>
          </a:prstGeom>
        </p:spPr>
      </p:pic>
      <p:cxnSp>
        <p:nvCxnSpPr>
          <p:cNvPr id="49" name="Пряма сполучна лінія 48">
            <a:extLst>
              <a:ext uri="{FF2B5EF4-FFF2-40B4-BE49-F238E27FC236}">
                <a16:creationId xmlns:a16="http://schemas.microsoft.com/office/drawing/2014/main" id="{8E21FF31-A4C9-41D8-A9AD-D5980D36AB48}"/>
              </a:ext>
            </a:extLst>
          </p:cNvPr>
          <p:cNvCxnSpPr>
            <a:cxnSpLocks/>
          </p:cNvCxnSpPr>
          <p:nvPr userDrawn="1"/>
        </p:nvCxnSpPr>
        <p:spPr>
          <a:xfrm>
            <a:off x="0" y="35686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 сполучна лінія 49">
            <a:extLst>
              <a:ext uri="{FF2B5EF4-FFF2-40B4-BE49-F238E27FC236}">
                <a16:creationId xmlns:a16="http://schemas.microsoft.com/office/drawing/2014/main" id="{40E649A7-7BD8-427C-9856-66DB033E6761}"/>
              </a:ext>
            </a:extLst>
          </p:cNvPr>
          <p:cNvCxnSpPr>
            <a:cxnSpLocks/>
          </p:cNvCxnSpPr>
          <p:nvPr userDrawn="1"/>
        </p:nvCxnSpPr>
        <p:spPr>
          <a:xfrm>
            <a:off x="0" y="49582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 сполучна лінія 50">
            <a:extLst>
              <a:ext uri="{FF2B5EF4-FFF2-40B4-BE49-F238E27FC236}">
                <a16:creationId xmlns:a16="http://schemas.microsoft.com/office/drawing/2014/main" id="{F9D7FB6D-69B3-4B30-A5E9-372D5C21C006}"/>
              </a:ext>
            </a:extLst>
          </p:cNvPr>
          <p:cNvCxnSpPr/>
          <p:nvPr userDrawn="1"/>
        </p:nvCxnSpPr>
        <p:spPr>
          <a:xfrm>
            <a:off x="-34637" y="636754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A090E21-FA57-4279-8052-31904708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70" y="6187183"/>
            <a:ext cx="5626067" cy="578766"/>
          </a:xfrm>
          <a:prstGeom prst="rect">
            <a:avLst/>
          </a:prstGeom>
        </p:spPr>
      </p:pic>
      <p:sp>
        <p:nvSpPr>
          <p:cNvPr id="5" name="TXT_THEME_WORLD_NAME">
            <a:extLst>
              <a:ext uri="{FF2B5EF4-FFF2-40B4-BE49-F238E27FC236}">
                <a16:creationId xmlns:a16="http://schemas.microsoft.com/office/drawing/2014/main" id="{2CBEDC59-1377-552D-8231-30A596D197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1200" y="1548000"/>
            <a:ext cx="3068638" cy="487363"/>
          </a:xfrm>
        </p:spPr>
        <p:txBody>
          <a:bodyPr/>
          <a:lstStyle>
            <a:lvl1pPr>
              <a:buNone/>
              <a:defRPr sz="1800" baseline="0"/>
            </a:lvl1pPr>
            <a:lvl2pPr>
              <a:buNone/>
              <a:defRPr sz="1800" baseline="0"/>
            </a:lvl2pPr>
            <a:lvl3pPr>
              <a:buNone/>
              <a:defRPr sz="1800" baseline="0"/>
            </a:lvl3pPr>
            <a:lvl4pPr>
              <a:buNone/>
              <a:defRPr sz="1800" baseline="0"/>
            </a:lvl4pPr>
            <a:lvl5pPr>
              <a:buNone/>
              <a:defRPr sz="1800" baseline="0"/>
            </a:lvl5pPr>
          </a:lstStyle>
          <a:p>
            <a:pPr lvl="0"/>
            <a:r>
              <a:rPr lang="en-US" dirty="0">
                <a:latin typeface="Bahnschrift Condensed" panose="020B0502040204020203" pitchFamily="34" charset="0"/>
              </a:rPr>
              <a:t>MÄRCHENGASSE</a:t>
            </a:r>
            <a:endParaRPr lang="uk-UA" dirty="0">
              <a:latin typeface="Bahnschrift Condensed" panose="020B0502040204020203" pitchFamily="34" charset="0"/>
            </a:endParaRP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11D0F72D-4A93-BD09-899F-BEB0186A31FD}"/>
              </a:ext>
            </a:extLst>
          </p:cNvPr>
          <p:cNvSpPr/>
          <p:nvPr userDrawn="1"/>
        </p:nvSpPr>
        <p:spPr>
          <a:xfrm>
            <a:off x="1943100" y="6296025"/>
            <a:ext cx="4562475" cy="365895"/>
          </a:xfrm>
          <a:prstGeom prst="rect">
            <a:avLst/>
          </a:prstGeom>
          <a:solidFill>
            <a:srgbClr val="0A1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UA" dirty="0"/>
          </a:p>
        </p:txBody>
      </p:sp>
      <p:sp>
        <p:nvSpPr>
          <p:cNvPr id="8" name="TXT_MOTIF_STATS_CALLOUT">
            <a:extLst>
              <a:ext uri="{FF2B5EF4-FFF2-40B4-BE49-F238E27FC236}">
                <a16:creationId xmlns:a16="http://schemas.microsoft.com/office/drawing/2014/main" id="{F99F8F7A-2206-DE4D-68EE-D01D56E2437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32000" y="6296025"/>
            <a:ext cx="4473575" cy="387350"/>
          </a:xfrm>
        </p:spPr>
        <p:txBody>
          <a:bodyPr/>
          <a:lstStyle>
            <a:lvl1pPr>
              <a:buNone/>
              <a:defRPr sz="1200" baseline="0">
                <a:solidFill>
                  <a:srgbClr val="F2F0EE"/>
                </a:solidFill>
              </a:defRPr>
            </a:lvl1pPr>
            <a:lvl2pPr>
              <a:buNone/>
              <a:defRPr sz="1200" baseline="0">
                <a:solidFill>
                  <a:srgbClr val="F2F0EE"/>
                </a:solidFill>
              </a:defRPr>
            </a:lvl2pPr>
            <a:lvl3pPr>
              <a:buNone/>
              <a:defRPr sz="1200" baseline="0">
                <a:solidFill>
                  <a:srgbClr val="F2F0EE"/>
                </a:solidFill>
              </a:defRPr>
            </a:lvl3pPr>
            <a:lvl4pPr>
              <a:buNone/>
              <a:defRPr sz="1200" baseline="0">
                <a:solidFill>
                  <a:srgbClr val="F2F0EE"/>
                </a:solidFill>
              </a:defRPr>
            </a:lvl4pPr>
            <a:lvl5pPr>
              <a:buNone/>
              <a:defRPr sz="1200" baseline="0">
                <a:solidFill>
                  <a:srgbClr val="F2F0EE"/>
                </a:solidFill>
              </a:defRPr>
            </a:lvl5pPr>
          </a:lstStyle>
          <a:p>
            <a:pPr lvl="0"/>
            <a:endParaRPr lang="ru-UA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9297BE-2654-0AD9-799C-A2C64EEBA66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2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7_BESTSELL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">
            <a:extLst>
              <a:ext uri="{FF2B5EF4-FFF2-40B4-BE49-F238E27FC236}">
                <a16:creationId xmlns:a16="http://schemas.microsoft.com/office/drawing/2014/main" id="{01F38D04-D37E-E6CE-FF6F-492308578B48}"/>
              </a:ext>
            </a:extLst>
          </p:cNvPr>
          <p:cNvSpPr txBox="1"/>
          <p:nvPr userDrawn="1"/>
        </p:nvSpPr>
        <p:spPr>
          <a:xfrm>
            <a:off x="455400" y="225598"/>
            <a:ext cx="5785397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20" b="1" dirty="0">
                <a:solidFill>
                  <a:srgbClr val="231F20"/>
                </a:solidFill>
                <a:latin typeface="Bahnschrift SemiLight" panose="020B0502040204020203" pitchFamily="34" charset="0"/>
              </a:rPr>
              <a:t>Das </a:t>
            </a:r>
            <a:r>
              <a:rPr lang="en-US" sz="2920" b="1" dirty="0" err="1">
                <a:solidFill>
                  <a:srgbClr val="231F20"/>
                </a:solidFill>
                <a:latin typeface="Bahnschrift SemiLight" panose="020B0502040204020203" pitchFamily="34" charset="0"/>
              </a:rPr>
              <a:t>nehmen</a:t>
            </a:r>
            <a:r>
              <a:rPr lang="en-US" sz="2920" b="1" dirty="0">
                <a:solidFill>
                  <a:srgbClr val="231F2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2920" b="1" dirty="0" err="1">
                <a:solidFill>
                  <a:srgbClr val="231F20"/>
                </a:solidFill>
                <a:latin typeface="Bahnschrift SemiLight" panose="020B0502040204020203" pitchFamily="34" charset="0"/>
              </a:rPr>
              <a:t>Ihre</a:t>
            </a:r>
            <a:r>
              <a:rPr lang="en-US" sz="2920" b="1" dirty="0">
                <a:solidFill>
                  <a:srgbClr val="231F2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2920" b="1" dirty="0" err="1">
                <a:solidFill>
                  <a:srgbClr val="231F20"/>
                </a:solidFill>
                <a:latin typeface="Bahnschrift SemiLight" panose="020B0502040204020203" pitchFamily="34" charset="0"/>
              </a:rPr>
              <a:t>Besucher</a:t>
            </a:r>
            <a:r>
              <a:rPr lang="en-US" sz="2920" b="1" dirty="0">
                <a:solidFill>
                  <a:srgbClr val="231F2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2920" b="1" dirty="0" err="1">
                <a:solidFill>
                  <a:srgbClr val="231F20"/>
                </a:solidFill>
                <a:latin typeface="Bahnschrift SemiLight" panose="020B0502040204020203" pitchFamily="34" charset="0"/>
              </a:rPr>
              <a:t>mit</a:t>
            </a:r>
            <a:r>
              <a:rPr lang="en-US" sz="2920" b="1" dirty="0">
                <a:solidFill>
                  <a:srgbClr val="231F20"/>
                </a:solidFill>
                <a:latin typeface="Bahnschrift SemiLight" panose="020B0502040204020203" pitchFamily="34" charset="0"/>
              </a:rPr>
              <a:t> </a:t>
            </a:r>
            <a:r>
              <a:rPr lang="de-DE" sz="3200" b="1" i="0" baseline="0" dirty="0">
                <a:latin typeface="Bahnschrift SemiLight" panose="020B0502040204020203" pitchFamily="34" charset="0"/>
              </a:rPr>
              <a:t>—</a:t>
            </a:r>
            <a:r>
              <a:rPr lang="en-US" sz="2920" b="1" dirty="0">
                <a:solidFill>
                  <a:srgbClr val="231F20"/>
                </a:solidFill>
                <a:latin typeface="Bahnschrift SemiLight" panose="020B0502040204020203" pitchFamily="34" charset="0"/>
              </a:rPr>
              <a:t> </a:t>
            </a:r>
            <a:r>
              <a:rPr lang="de-DE" sz="2920" b="1" dirty="0">
                <a:solidFill>
                  <a:srgbClr val="231F20"/>
                </a:solidFill>
                <a:latin typeface="Bahnschrift SemiLight" panose="020B0502040204020203" pitchFamily="34" charset="0"/>
              </a:rPr>
              <a:t>personalisiert, sofort, teilbar.</a:t>
            </a:r>
            <a:endParaRPr lang="ru-UA" sz="2920" b="1" dirty="0">
              <a:solidFill>
                <a:srgbClr val="231F20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8" name="Підзаголовок">
            <a:extLst>
              <a:ext uri="{FF2B5EF4-FFF2-40B4-BE49-F238E27FC236}">
                <a16:creationId xmlns:a16="http://schemas.microsoft.com/office/drawing/2014/main" id="{048AC530-5BE1-CEEA-3695-BB63B95ACEE5}"/>
              </a:ext>
            </a:extLst>
          </p:cNvPr>
          <p:cNvSpPr txBox="1"/>
          <p:nvPr userDrawn="1"/>
        </p:nvSpPr>
        <p:spPr>
          <a:xfrm>
            <a:off x="511199" y="1458000"/>
            <a:ext cx="4559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Jedes Motiv wird individuell passend zu Ihrem Event gestaltet – Ihre Besucher werden Teil Ihrer Erlebniswelt. Das teilen sie.</a:t>
            </a:r>
            <a:endParaRPr lang="ru-UA" sz="10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9" name="Підпис 1">
            <a:extLst>
              <a:ext uri="{FF2B5EF4-FFF2-40B4-BE49-F238E27FC236}">
                <a16:creationId xmlns:a16="http://schemas.microsoft.com/office/drawing/2014/main" id="{DDD344C6-DFDD-3D05-29A0-D0EE2A6F68AB}"/>
              </a:ext>
            </a:extLst>
          </p:cNvPr>
          <p:cNvSpPr txBox="1"/>
          <p:nvPr userDrawn="1"/>
        </p:nvSpPr>
        <p:spPr>
          <a:xfrm>
            <a:off x="573269" y="3177172"/>
            <a:ext cx="111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Otto I. der Große</a:t>
            </a:r>
            <a:endParaRPr lang="ru-UA" sz="800" dirty="0"/>
          </a:p>
        </p:txBody>
      </p:sp>
      <p:sp>
        <p:nvSpPr>
          <p:cNvPr id="10" name="Підпис 2">
            <a:extLst>
              <a:ext uri="{FF2B5EF4-FFF2-40B4-BE49-F238E27FC236}">
                <a16:creationId xmlns:a16="http://schemas.microsoft.com/office/drawing/2014/main" id="{F5786ED0-672A-4868-3A87-32F00895AAC8}"/>
              </a:ext>
            </a:extLst>
          </p:cNvPr>
          <p:cNvSpPr txBox="1"/>
          <p:nvPr userDrawn="1"/>
        </p:nvSpPr>
        <p:spPr>
          <a:xfrm>
            <a:off x="621126" y="4344934"/>
            <a:ext cx="1099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Edith von Wessex</a:t>
            </a:r>
            <a:endParaRPr lang="ru-UA" sz="8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1" name="Підпис 3">
            <a:extLst>
              <a:ext uri="{FF2B5EF4-FFF2-40B4-BE49-F238E27FC236}">
                <a16:creationId xmlns:a16="http://schemas.microsoft.com/office/drawing/2014/main" id="{4F898113-8632-9926-4B23-530966B801A7}"/>
              </a:ext>
            </a:extLst>
          </p:cNvPr>
          <p:cNvSpPr txBox="1"/>
          <p:nvPr userDrawn="1"/>
        </p:nvSpPr>
        <p:spPr>
          <a:xfrm>
            <a:off x="662440" y="5679316"/>
            <a:ext cx="96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aseline="0" dirty="0">
                <a:latin typeface="Myriad Pro" panose="020B0503030403020204" pitchFamily="34" charset="0"/>
              </a:rPr>
              <a:t>Adalbert von Magdeburg</a:t>
            </a:r>
            <a:endParaRPr lang="ru-UA" sz="800" baseline="0" dirty="0">
              <a:latin typeface="Myriad Pro" panose="020B0503030403020204" pitchFamily="34" charset="0"/>
            </a:endParaRPr>
          </a:p>
        </p:txBody>
      </p:sp>
      <p:sp>
        <p:nvSpPr>
          <p:cNvPr id="12" name="Fotokarte">
            <a:extLst>
              <a:ext uri="{FF2B5EF4-FFF2-40B4-BE49-F238E27FC236}">
                <a16:creationId xmlns:a16="http://schemas.microsoft.com/office/drawing/2014/main" id="{9DDD4FEC-AF7C-21FE-3C5E-FD3A9F0ACC02}"/>
              </a:ext>
            </a:extLst>
          </p:cNvPr>
          <p:cNvSpPr txBox="1"/>
          <p:nvPr userDrawn="1"/>
        </p:nvSpPr>
        <p:spPr>
          <a:xfrm>
            <a:off x="2790981" y="2202424"/>
            <a:ext cx="80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Fotokarte</a:t>
            </a:r>
            <a:endParaRPr lang="ru-UA" sz="1100" dirty="0"/>
          </a:p>
        </p:txBody>
      </p:sp>
      <p:sp>
        <p:nvSpPr>
          <p:cNvPr id="13" name="Hintergrund">
            <a:extLst>
              <a:ext uri="{FF2B5EF4-FFF2-40B4-BE49-F238E27FC236}">
                <a16:creationId xmlns:a16="http://schemas.microsoft.com/office/drawing/2014/main" id="{41C1236F-8502-35CC-F889-12EC6AD15651}"/>
              </a:ext>
            </a:extLst>
          </p:cNvPr>
          <p:cNvSpPr txBox="1"/>
          <p:nvPr userDrawn="1"/>
        </p:nvSpPr>
        <p:spPr>
          <a:xfrm>
            <a:off x="6036498" y="2183772"/>
            <a:ext cx="973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Hintergrund</a:t>
            </a:r>
            <a:endParaRPr lang="ru-UA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0393F-47EC-E625-4874-8D39D150FEE4}"/>
              </a:ext>
            </a:extLst>
          </p:cNvPr>
          <p:cNvSpPr txBox="1"/>
          <p:nvPr userDrawn="1"/>
        </p:nvSpPr>
        <p:spPr>
          <a:xfrm>
            <a:off x="9344485" y="2202424"/>
            <a:ext cx="806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AR-Maske</a:t>
            </a:r>
            <a:endParaRPr lang="ru-UA" sz="11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6549A9C-5BDE-4893-84EB-311EACA77A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99" y="1149643"/>
            <a:ext cx="5709797" cy="3476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191FEBA-3EEC-41C9-86F5-0E040BB42C7B}"/>
              </a:ext>
            </a:extLst>
          </p:cNvPr>
          <p:cNvSpPr txBox="1"/>
          <p:nvPr userDrawn="1"/>
        </p:nvSpPr>
        <p:spPr>
          <a:xfrm>
            <a:off x="511199" y="1857383"/>
            <a:ext cx="1921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latin typeface="Arial Black" panose="020B0A04020102020204" pitchFamily="34" charset="0"/>
                <a:cs typeface="Calibri Light" panose="020F0302020204030204" pitchFamily="34" charset="0"/>
              </a:rPr>
              <a:t>KAISER-OTTO-PFALZ</a:t>
            </a:r>
            <a:endParaRPr lang="uk-UA" sz="1200" dirty="0">
              <a:latin typeface="Arial Black" panose="020B0A0402010202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033FC6-EC89-4537-A18B-8A7A2BFDE6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32" y="2560463"/>
            <a:ext cx="635416" cy="64026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E61E7E-DD40-4D5F-B058-8ED107CA47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43" y="3804248"/>
            <a:ext cx="583350" cy="58780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4ED61A5-31AD-4429-8855-70E01B70703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52" y="5135580"/>
            <a:ext cx="598577" cy="603146"/>
          </a:xfrm>
          <a:prstGeom prst="rect">
            <a:avLst/>
          </a:prstGeom>
        </p:spPr>
      </p:pic>
      <p:cxnSp>
        <p:nvCxnSpPr>
          <p:cNvPr id="27" name="Пряма сполучна лінія 26">
            <a:extLst>
              <a:ext uri="{FF2B5EF4-FFF2-40B4-BE49-F238E27FC236}">
                <a16:creationId xmlns:a16="http://schemas.microsoft.com/office/drawing/2014/main" id="{3B485F06-F584-44D0-BF08-FE0CE216115E}"/>
              </a:ext>
            </a:extLst>
          </p:cNvPr>
          <p:cNvCxnSpPr>
            <a:cxnSpLocks/>
          </p:cNvCxnSpPr>
          <p:nvPr userDrawn="1"/>
        </p:nvCxnSpPr>
        <p:spPr>
          <a:xfrm>
            <a:off x="0" y="3626812"/>
            <a:ext cx="1720968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06ED410-9867-4D5D-BF25-952B2DE513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694" y="2421381"/>
            <a:ext cx="1648974" cy="156697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E9E68A5-9287-4C4F-B3FB-03EEDD5497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681" y="2410137"/>
            <a:ext cx="1648974" cy="156697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B77650D-19BA-4798-B3C2-6902DCB36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197" y="2410136"/>
            <a:ext cx="1648974" cy="15669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9F4851A-877D-4029-BDD1-7F42DABC9F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359" y="2570633"/>
            <a:ext cx="2816003" cy="1179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88AD3BB-1C16-4159-80EE-AF98AD751E3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359" y="3814707"/>
            <a:ext cx="2816003" cy="1179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BA73242-E780-406A-BFD9-2A68451CD61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360" y="5058781"/>
            <a:ext cx="2775638" cy="1179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AF60B92-47A7-44B0-A8E3-F064F471C78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910" y="2566833"/>
            <a:ext cx="3069059" cy="1179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477CBEB-AEA5-4BA6-A8F7-AD82D455D5B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911" y="3814706"/>
            <a:ext cx="3069060" cy="1179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4676AB2A-09E0-487B-96A8-13910179AE0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909" y="5058780"/>
            <a:ext cx="3069060" cy="1179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EA22836-C93E-4A30-9F08-EA60AB204C8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517" y="5043250"/>
            <a:ext cx="2634351" cy="1179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80FB0F5C-C03E-43CC-AEB7-860629266E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521" y="3810664"/>
            <a:ext cx="2634348" cy="1179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BA077D45-A5D2-414E-A60E-9108BA4022B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517" y="2578078"/>
            <a:ext cx="2619451" cy="1179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40" name="Пряма сполучна лінія 39">
            <a:extLst>
              <a:ext uri="{FF2B5EF4-FFF2-40B4-BE49-F238E27FC236}">
                <a16:creationId xmlns:a16="http://schemas.microsoft.com/office/drawing/2014/main" id="{D746E1E8-683F-40C0-8E09-8EFD0D1EDE71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879211"/>
            <a:ext cx="1729047" cy="354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 сполучна лінія 41">
            <a:extLst>
              <a:ext uri="{FF2B5EF4-FFF2-40B4-BE49-F238E27FC236}">
                <a16:creationId xmlns:a16="http://schemas.microsoft.com/office/drawing/2014/main" id="{4772F8A0-D1C3-41BE-97E6-AAB275BED31B}"/>
              </a:ext>
            </a:extLst>
          </p:cNvPr>
          <p:cNvCxnSpPr/>
          <p:nvPr userDrawn="1"/>
        </p:nvCxnSpPr>
        <p:spPr>
          <a:xfrm>
            <a:off x="-34637" y="636754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FA3B22-20EE-82B3-3B0F-36A3EB0243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0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8_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G_OUTPUT_CARD_1">
            <a:extLst>
              <a:ext uri="{FF2B5EF4-FFF2-40B4-BE49-F238E27FC236}">
                <a16:creationId xmlns:a16="http://schemas.microsoft.com/office/drawing/2014/main" id="{948F839E-14D1-F62F-4B0E-B4386CC54B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rot="20940000">
            <a:off x="1468800" y="2559600"/>
            <a:ext cx="4503600" cy="2710800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1" name="TXT_THEME_WORLD_NAME_1">
            <a:extLst>
              <a:ext uri="{FF2B5EF4-FFF2-40B4-BE49-F238E27FC236}">
                <a16:creationId xmlns:a16="http://schemas.microsoft.com/office/drawing/2014/main" id="{D100E7EF-E94C-9B50-3AEF-30B2D3D66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20876438">
            <a:off x="4331528" y="4517507"/>
            <a:ext cx="1840059" cy="408718"/>
          </a:xfrm>
        </p:spPr>
        <p:txBody>
          <a:bodyPr/>
          <a:lstStyle>
            <a:lvl1pPr>
              <a:buNone/>
              <a:defRPr sz="1419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 dirty="0"/>
              <a:t>     Magdeburger Weihnachtsmarkt</a:t>
            </a:r>
            <a:endParaRPr lang="uk-UA" dirty="0"/>
          </a:p>
        </p:txBody>
      </p:sp>
      <p:sp>
        <p:nvSpPr>
          <p:cNvPr id="14" name="IMG_OUTPUT_CARD_2">
            <a:extLst>
              <a:ext uri="{FF2B5EF4-FFF2-40B4-BE49-F238E27FC236}">
                <a16:creationId xmlns:a16="http://schemas.microsoft.com/office/drawing/2014/main" id="{40330A7A-C1FD-A589-9D4E-22A10EBD423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20940000">
            <a:off x="4759200" y="727200"/>
            <a:ext cx="4222800" cy="2376000"/>
          </a:xfrm>
          <a:prstGeom prst="roundRect">
            <a:avLst>
              <a:gd name="adj" fmla="val 9595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0" name="TXT_THEME_WORLD_NAME_2">
            <a:extLst>
              <a:ext uri="{FF2B5EF4-FFF2-40B4-BE49-F238E27FC236}">
                <a16:creationId xmlns:a16="http://schemas.microsoft.com/office/drawing/2014/main" id="{B3B00D8D-4168-4800-A57C-80AEB655F7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20876438">
            <a:off x="7306430" y="2416341"/>
            <a:ext cx="1840059" cy="408718"/>
          </a:xfrm>
        </p:spPr>
        <p:txBody>
          <a:bodyPr/>
          <a:lstStyle>
            <a:lvl1pPr>
              <a:buNone/>
              <a:defRPr sz="1419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 dirty="0"/>
              <a:t>     Magdeburger Weihnachtsmarkt</a:t>
            </a:r>
            <a:endParaRPr lang="uk-UA" dirty="0"/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A657E984-D10A-45F4-9A34-673ED2B8B0F3}"/>
              </a:ext>
            </a:extLst>
          </p:cNvPr>
          <p:cNvCxnSpPr/>
          <p:nvPr userDrawn="1"/>
        </p:nvCxnSpPr>
        <p:spPr>
          <a:xfrm>
            <a:off x="-34637" y="636754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556AA08-A8D3-AF40-1A6D-F4A4FEE98E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5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9_SOCIAL_R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line">
            <a:extLst>
              <a:ext uri="{FF2B5EF4-FFF2-40B4-BE49-F238E27FC236}">
                <a16:creationId xmlns:a16="http://schemas.microsoft.com/office/drawing/2014/main" id="{B6DB5CC5-8991-97C9-24B2-159D3BDA6AC7}"/>
              </a:ext>
            </a:extLst>
          </p:cNvPr>
          <p:cNvSpPr txBox="1"/>
          <p:nvPr userDrawn="1"/>
        </p:nvSpPr>
        <p:spPr>
          <a:xfrm>
            <a:off x="795634" y="190489"/>
            <a:ext cx="491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Organische Reichweite die</a:t>
            </a:r>
            <a:endParaRPr lang="uk-UA" sz="2400" b="1" dirty="0"/>
          </a:p>
          <a:p>
            <a:r>
              <a:rPr lang="de-DE" sz="2400" b="1" dirty="0"/>
              <a:t>kein Werbebudget kaufen kann.</a:t>
            </a:r>
            <a:endParaRPr lang="ru-UA" sz="2400" b="1" dirty="0"/>
          </a:p>
        </p:txBody>
      </p:sp>
      <p:sp>
        <p:nvSpPr>
          <p:cNvPr id="10" name="Stat numbers">
            <a:extLst>
              <a:ext uri="{FF2B5EF4-FFF2-40B4-BE49-F238E27FC236}">
                <a16:creationId xmlns:a16="http://schemas.microsoft.com/office/drawing/2014/main" id="{0152E84B-C2AE-DD23-E6C0-E1A4E5228142}"/>
              </a:ext>
            </a:extLst>
          </p:cNvPr>
          <p:cNvSpPr txBox="1"/>
          <p:nvPr userDrawn="1"/>
        </p:nvSpPr>
        <p:spPr>
          <a:xfrm>
            <a:off x="6140312" y="1037793"/>
            <a:ext cx="138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A" sz="5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90%</a:t>
            </a:r>
            <a:endParaRPr lang="uk-UA" sz="5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90% label">
            <a:extLst>
              <a:ext uri="{FF2B5EF4-FFF2-40B4-BE49-F238E27FC236}">
                <a16:creationId xmlns:a16="http://schemas.microsoft.com/office/drawing/2014/main" id="{13FEF32B-4B76-15A3-8CF2-51DE08991FDB}"/>
              </a:ext>
            </a:extLst>
          </p:cNvPr>
          <p:cNvSpPr txBox="1"/>
          <p:nvPr userDrawn="1"/>
        </p:nvSpPr>
        <p:spPr>
          <a:xfrm>
            <a:off x="7526815" y="1245035"/>
            <a:ext cx="2385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der Besucher hinterlassen freiwillig ihre Kontaktdaten</a:t>
            </a:r>
            <a:endParaRPr lang="ru-UA" sz="12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2" name="70% label">
            <a:extLst>
              <a:ext uri="{FF2B5EF4-FFF2-40B4-BE49-F238E27FC236}">
                <a16:creationId xmlns:a16="http://schemas.microsoft.com/office/drawing/2014/main" id="{9B3F29ED-E6C9-5717-3507-04A799FC2D9D}"/>
              </a:ext>
            </a:extLst>
          </p:cNvPr>
          <p:cNvSpPr txBox="1"/>
          <p:nvPr userDrawn="1"/>
        </p:nvSpPr>
        <p:spPr>
          <a:xfrm>
            <a:off x="7526814" y="1958951"/>
            <a:ext cx="2398385" cy="61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teilen ihr Motiv aktiv auf Facebook, </a:t>
            </a:r>
            <a:r>
              <a:rPr lang="de-DE" sz="12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Instagram</a:t>
            </a:r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 oder TikTok — mit Ihrem Markt als Kontext.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4" name="Bullet 1">
            <a:extLst>
              <a:ext uri="{FF2B5EF4-FFF2-40B4-BE49-F238E27FC236}">
                <a16:creationId xmlns:a16="http://schemas.microsoft.com/office/drawing/2014/main" id="{FBD4CF6E-CBF1-61F6-D34D-5BE68BF261E9}"/>
              </a:ext>
            </a:extLst>
          </p:cNvPr>
          <p:cNvSpPr txBox="1"/>
          <p:nvPr userDrawn="1"/>
        </p:nvSpPr>
        <p:spPr>
          <a:xfrm>
            <a:off x="6854823" y="2891363"/>
            <a:ext cx="2398385" cy="43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Ihre Besucher werden zu Markenbotschaftern Ihres Markts.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C514D626-BB0B-AB08-69DE-165E17EDECF1}"/>
              </a:ext>
            </a:extLst>
          </p:cNvPr>
          <p:cNvSpPr txBox="1"/>
          <p:nvPr userDrawn="1"/>
        </p:nvSpPr>
        <p:spPr>
          <a:xfrm>
            <a:off x="6879610" y="4096931"/>
            <a:ext cx="2264400" cy="43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Organischer Content, den kein Werbebudget ersetzen kann.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6" name="Bullet 2">
            <a:extLst>
              <a:ext uri="{FF2B5EF4-FFF2-40B4-BE49-F238E27FC236}">
                <a16:creationId xmlns:a16="http://schemas.microsoft.com/office/drawing/2014/main" id="{0D2360C0-E716-7C7C-7057-8E1AE54D65EB}"/>
              </a:ext>
            </a:extLst>
          </p:cNvPr>
          <p:cNvSpPr txBox="1"/>
          <p:nvPr userDrawn="1"/>
        </p:nvSpPr>
        <p:spPr>
          <a:xfrm>
            <a:off x="6868444" y="3494147"/>
            <a:ext cx="2639685" cy="43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Jedes geteilte Motiv trägt Ihren Marktnamen in die sozialen Netzwerke.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6F38D-32EB-3F34-97DF-A0289561AC92}"/>
              </a:ext>
            </a:extLst>
          </p:cNvPr>
          <p:cNvSpPr txBox="1"/>
          <p:nvPr userDrawn="1"/>
        </p:nvSpPr>
        <p:spPr>
          <a:xfrm>
            <a:off x="6854823" y="5093292"/>
            <a:ext cx="3735567" cy="96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3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Nach der Saison erhalten Sie von uns eine vollständige Auswertung — welche Motive am häufigsten geteilt wurden, welche Masken am besten ankamen, und wie wir das Erlebnis für die nächste Saison gemeinsam weiterentwickeln.</a:t>
            </a:r>
            <a:endParaRPr lang="ru-UA" sz="113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09BEFA7-0184-4D1E-A633-952B867AB5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4" y="1041393"/>
            <a:ext cx="4482949" cy="24355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7F9FCF3-C1CE-4264-B2D6-3F2F58C6D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64986" y="3096675"/>
            <a:ext cx="3827193" cy="24355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8F96726-7641-4420-91C9-8738DF0EA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4" y="5132050"/>
            <a:ext cx="4482948" cy="24355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E6FEF5-067C-4E5F-8579-EF39004207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332" y="5308746"/>
            <a:ext cx="792097" cy="7813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40D0C8-2BE3-48B8-BA48-16B5E4932E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342" y="5308747"/>
            <a:ext cx="792097" cy="78139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94C5D0A-DB63-454A-8A92-E2C284C7604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53" y="5308746"/>
            <a:ext cx="792097" cy="781393"/>
          </a:xfrm>
          <a:prstGeom prst="rect">
            <a:avLst/>
          </a:prstGeom>
        </p:spPr>
      </p:pic>
      <p:cxnSp>
        <p:nvCxnSpPr>
          <p:cNvPr id="25" name="Пряма сполучна лінія 24">
            <a:extLst>
              <a:ext uri="{FF2B5EF4-FFF2-40B4-BE49-F238E27FC236}">
                <a16:creationId xmlns:a16="http://schemas.microsoft.com/office/drawing/2014/main" id="{AC58FD16-43B6-45CF-BF4F-91F4553B5721}"/>
              </a:ext>
            </a:extLst>
          </p:cNvPr>
          <p:cNvCxnSpPr/>
          <p:nvPr userDrawn="1"/>
        </p:nvCxnSpPr>
        <p:spPr>
          <a:xfrm>
            <a:off x="0" y="621791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FB85E53-71AF-4806-BA66-41710B1697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90" y="1730371"/>
            <a:ext cx="3499441" cy="243557"/>
          </a:xfrm>
          <a:prstGeom prst="rect">
            <a:avLst/>
          </a:prstGeom>
        </p:spPr>
      </p:pic>
      <p:sp>
        <p:nvSpPr>
          <p:cNvPr id="29" name="Stat numbers">
            <a:extLst>
              <a:ext uri="{FF2B5EF4-FFF2-40B4-BE49-F238E27FC236}">
                <a16:creationId xmlns:a16="http://schemas.microsoft.com/office/drawing/2014/main" id="{2400EDD1-E8DD-4284-9EA9-8D99721D1C93}"/>
              </a:ext>
            </a:extLst>
          </p:cNvPr>
          <p:cNvSpPr txBox="1"/>
          <p:nvPr userDrawn="1"/>
        </p:nvSpPr>
        <p:spPr>
          <a:xfrm>
            <a:off x="6137215" y="1790051"/>
            <a:ext cx="138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7</a:t>
            </a:r>
            <a:r>
              <a:rPr lang="ru-UA" sz="5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0%</a:t>
            </a:r>
            <a:endParaRPr lang="uk-UA" sz="5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3E9E1CA-1D8C-412C-92AE-39D4124F16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90" y="2808781"/>
            <a:ext cx="599545" cy="62021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9499CD7-B256-4AD8-9D49-D53067E1CC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00" y="3447319"/>
            <a:ext cx="585923" cy="606127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1CEC46F-06D0-4BD3-82F9-8278B92425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00" y="4044281"/>
            <a:ext cx="599544" cy="62021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6FE952D-D817-4E1E-A8DD-B0EE1B4CC6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294" y="4682313"/>
            <a:ext cx="3499441" cy="24355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19F9ED5-60E5-4A6B-BFC6-278FBA13C01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15" y="4879517"/>
            <a:ext cx="792097" cy="781393"/>
          </a:xfrm>
          <a:prstGeom prst="rect">
            <a:avLst/>
          </a:prstGeom>
        </p:spPr>
      </p:pic>
      <p:sp>
        <p:nvSpPr>
          <p:cNvPr id="4" name="IMG_INSTAGRAM_MOCKUP">
            <a:extLst>
              <a:ext uri="{FF2B5EF4-FFF2-40B4-BE49-F238E27FC236}">
                <a16:creationId xmlns:a16="http://schemas.microsoft.com/office/drawing/2014/main" id="{9F9E0D89-9A93-F9B9-DD67-FE1FDE4503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000" y="1296000"/>
            <a:ext cx="4194000" cy="3801600"/>
          </a:xfrm>
        </p:spPr>
        <p:txBody>
          <a:bodyPr/>
          <a:lstStyle/>
          <a:p>
            <a:endParaRPr lang="ru-UA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5998FB-727D-A879-AF6F-727E20E3E4E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3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10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97FF0033-A559-B409-BFF7-042C6C90B062}"/>
              </a:ext>
            </a:extLst>
          </p:cNvPr>
          <p:cNvSpPr txBox="1"/>
          <p:nvPr userDrawn="1"/>
        </p:nvSpPr>
        <p:spPr>
          <a:xfrm>
            <a:off x="481745" y="258443"/>
            <a:ext cx="51630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Lassen Sie uns gemeinsam</a:t>
            </a:r>
            <a:endParaRPr lang="uk-UA" sz="2800" b="1" dirty="0"/>
          </a:p>
          <a:p>
            <a:r>
              <a:rPr lang="de-DE" sz="2800" b="1" dirty="0"/>
              <a:t>Ihre Erlebniswelt entwickeln.</a:t>
            </a:r>
            <a:endParaRPr lang="ru-UA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9289A-52F8-0727-354A-ECBCD4E3DF91}"/>
              </a:ext>
            </a:extLst>
          </p:cNvPr>
          <p:cNvSpPr txBox="1"/>
          <p:nvPr userDrawn="1"/>
        </p:nvSpPr>
        <p:spPr>
          <a:xfrm>
            <a:off x="525600" y="1438602"/>
            <a:ext cx="48457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Interesse geweckt?</a:t>
            </a:r>
            <a:endParaRPr lang="uk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  <a:p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Gerne besprechen wir in einem persönlichen Gespräch, welche Erlebniswelten, KI-/AR-Szenarien und Vermarktungsmöglichkeiten zu Ihrem Standort passen.</a:t>
            </a:r>
            <a:endParaRPr lang="uk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  <a:p>
            <a:endParaRPr lang="uk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  <a:p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Wir freuen uns darauf, Ihre Ideen kennenzulernen und gemeinsam Möglichkeiten für eine erfolgreiche Umsetzung zu entwickeln.</a:t>
            </a:r>
            <a:endParaRPr lang="ru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20F8B-5C87-F691-A08B-6F90EE0C4649}"/>
              </a:ext>
            </a:extLst>
          </p:cNvPr>
          <p:cNvSpPr txBox="1"/>
          <p:nvPr userDrawn="1"/>
        </p:nvSpPr>
        <p:spPr>
          <a:xfrm>
            <a:off x="1087082" y="3222499"/>
            <a:ext cx="20028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+mj-lt"/>
              </a:rPr>
              <a:t>cosmoproducts</a:t>
            </a:r>
            <a:r>
              <a:rPr lang="en-US" sz="1600" b="1" dirty="0">
                <a:latin typeface="+mj-lt"/>
              </a:rPr>
              <a:t> </a:t>
            </a:r>
            <a:r>
              <a:rPr lang="en-US" sz="1400" b="1" dirty="0">
                <a:latin typeface="+mj-lt"/>
              </a:rPr>
              <a:t>GmbH</a:t>
            </a:r>
            <a:endParaRPr lang="uk-UA" sz="1400" b="1" dirty="0">
              <a:latin typeface="+mj-lt"/>
            </a:endParaRPr>
          </a:p>
          <a:p>
            <a:r>
              <a:rPr lang="en-US" sz="1400" b="0" dirty="0">
                <a:latin typeface="+mn-lt"/>
              </a:rPr>
              <a:t>Martin Baack</a:t>
            </a:r>
            <a:endParaRPr lang="ru-UA" sz="1400" b="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215D5-EA06-D10C-87CD-D89EE1FD506B}"/>
              </a:ext>
            </a:extLst>
          </p:cNvPr>
          <p:cNvSpPr txBox="1"/>
          <p:nvPr userDrawn="1"/>
        </p:nvSpPr>
        <p:spPr>
          <a:xfrm>
            <a:off x="1089191" y="3785883"/>
            <a:ext cx="20835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Bruno-</a:t>
            </a:r>
            <a:r>
              <a:rPr lang="en-US" sz="1400" dirty="0" err="1"/>
              <a:t>Bürgel</a:t>
            </a:r>
            <a:r>
              <a:rPr lang="en-US" sz="1400" dirty="0"/>
              <a:t>-Weg 69–81</a:t>
            </a:r>
          </a:p>
          <a:p>
            <a:r>
              <a:rPr lang="en-US" sz="1400" dirty="0"/>
              <a:t>Haus 6</a:t>
            </a:r>
          </a:p>
          <a:p>
            <a:r>
              <a:rPr lang="en-US" sz="1400" dirty="0"/>
              <a:t>12439 Berlin</a:t>
            </a:r>
            <a:endParaRPr lang="ru-U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E197C-9DEB-CC43-50FE-0405D998DEC7}"/>
              </a:ext>
            </a:extLst>
          </p:cNvPr>
          <p:cNvSpPr txBox="1"/>
          <p:nvPr userDrawn="1"/>
        </p:nvSpPr>
        <p:spPr>
          <a:xfrm>
            <a:off x="1069717" y="4590779"/>
            <a:ext cx="2556000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/>
              <a:t>Telefon: +49 (0)30 – 26 36 71 70</a:t>
            </a:r>
            <a:endParaRPr lang="ru-UA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FF2DA-CFBF-634B-9379-860227E5C3AB}"/>
              </a:ext>
            </a:extLst>
          </p:cNvPr>
          <p:cNvSpPr txBox="1"/>
          <p:nvPr userDrawn="1"/>
        </p:nvSpPr>
        <p:spPr>
          <a:xfrm>
            <a:off x="1078639" y="5106747"/>
            <a:ext cx="33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E-Mail: martinbaack@cosmoproducts.de</a:t>
            </a:r>
            <a:endParaRPr lang="ru-UA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5E954C-3CAD-CED7-575A-4F6765CCD87A}"/>
              </a:ext>
            </a:extLst>
          </p:cNvPr>
          <p:cNvSpPr txBox="1"/>
          <p:nvPr userDrawn="1"/>
        </p:nvSpPr>
        <p:spPr>
          <a:xfrm>
            <a:off x="1078639" y="5610174"/>
            <a:ext cx="2520000" cy="21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Web.: www.cosmoproducts.de</a:t>
            </a:r>
            <a:endParaRPr lang="ru-UA" sz="1400" dirty="0"/>
          </a:p>
        </p:txBody>
      </p:sp>
      <p:sp>
        <p:nvSpPr>
          <p:cNvPr id="23" name="IMG_LANDMARK_PHOTO">
            <a:extLst>
              <a:ext uri="{FF2B5EF4-FFF2-40B4-BE49-F238E27FC236}">
                <a16:creationId xmlns:a16="http://schemas.microsoft.com/office/drawing/2014/main" id="{C4395EEA-CD97-5724-1910-28446B50A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0000" y="460799"/>
            <a:ext cx="3711600" cy="5439600"/>
          </a:xfrm>
          <a:prstGeom prst="roundRect">
            <a:avLst>
              <a:gd name="adj" fmla="val 8712"/>
            </a:avLst>
          </a:prstGeom>
        </p:spPr>
        <p:txBody>
          <a:bodyPr/>
          <a:lstStyle/>
          <a:p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7FAD695-0A3B-468C-87CC-6403C8FE6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6" y="1258633"/>
            <a:ext cx="3711601" cy="24355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522051B-1089-46F2-80FF-83CA66979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6" y="2681711"/>
            <a:ext cx="3711601" cy="243557"/>
          </a:xfrm>
          <a:prstGeom prst="rect">
            <a:avLst/>
          </a:prstGeom>
        </p:spPr>
      </p:pic>
      <p:cxnSp>
        <p:nvCxnSpPr>
          <p:cNvPr id="22" name="Пряма сполучна лінія 21">
            <a:extLst>
              <a:ext uri="{FF2B5EF4-FFF2-40B4-BE49-F238E27FC236}">
                <a16:creationId xmlns:a16="http://schemas.microsoft.com/office/drawing/2014/main" id="{DF4F4190-EEA9-4524-9D4A-32D7B8332FF8}"/>
              </a:ext>
            </a:extLst>
          </p:cNvPr>
          <p:cNvCxnSpPr/>
          <p:nvPr userDrawn="1"/>
        </p:nvCxnSpPr>
        <p:spPr>
          <a:xfrm>
            <a:off x="0" y="621791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4C06BA-F89B-4B2D-9325-E93968B8F2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18" y="3092116"/>
            <a:ext cx="789434" cy="78943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39C891-6DB6-4460-B14B-3EF1853E27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40" y="3639446"/>
            <a:ext cx="789434" cy="78943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894E2E1-38C6-4590-80F1-97DC8D63CB6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" y="4368083"/>
            <a:ext cx="789434" cy="78943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80F26A5-CE7B-473E-8447-4DB9A104B3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" y="4864021"/>
            <a:ext cx="789434" cy="78943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F8E3B0A-FF3D-4CC5-8F8B-1418957A98F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43" y="5366399"/>
            <a:ext cx="789434" cy="78943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6D36AC-5E53-0910-9EC3-40173AD5AAE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2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F10AE61-2D0E-0559-A037-CC106E1A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ru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40D6260-0B6D-2302-76A4-777E3A119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UA" dirty="0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A6DF27-3F0A-650A-612F-6DBB0CA89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6DFF1-F6F8-444D-B677-7690BD10E8E8}" type="datetimeFigureOut">
              <a:rPr lang="ru-UA" smtClean="0"/>
              <a:t>02.09.2026</a:t>
            </a:fld>
            <a:endParaRPr lang="ru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977822A-C09C-5B8A-4043-4AEB3EE32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75DA962-FE13-FF2E-A312-6C484DB8C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D6BF7-A8D0-4F37-A8A0-1BFC23D768EB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6294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4" r:id="rId3"/>
    <p:sldLayoutId id="2147483667" r:id="rId4"/>
    <p:sldLayoutId id="2147483649" r:id="rId5"/>
    <p:sldLayoutId id="2147483665" r:id="rId6"/>
    <p:sldLayoutId id="2147483666" r:id="rId7"/>
    <p:sldLayoutId id="2147483663" r:id="rId8"/>
    <p:sldLayoutId id="2147483662" r:id="rId9"/>
    <p:sldLayoutId id="214748366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Cosmocard">
      <a:dk1>
        <a:srgbClr val="231F20"/>
      </a:dk1>
      <a:lt1>
        <a:srgbClr val="F2EAE0"/>
      </a:lt1>
      <a:dk2>
        <a:srgbClr val="44546A"/>
      </a:dk2>
      <a:lt2>
        <a:srgbClr val="E7E6E6"/>
      </a:lt2>
      <a:accent1>
        <a:srgbClr val="C5923B"/>
      </a:accent1>
      <a:accent2>
        <a:srgbClr val="FCB657"/>
      </a:accent2>
      <a:accent3>
        <a:srgbClr val="0D1216"/>
      </a:accent3>
      <a:accent4>
        <a:srgbClr val="001319"/>
      </a:accent4>
      <a:accent5>
        <a:srgbClr val="EFE7DE"/>
      </a:accent5>
      <a:accent6>
        <a:srgbClr val="F2F0EE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3665</TotalTime>
  <Words>0</Words>
  <Application>Microsoft Office PowerPoint</Application>
  <PresentationFormat>Широкий екран</PresentationFormat>
  <Paragraphs>0</Paragraphs>
  <Slides>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0</vt:i4>
      </vt:variant>
    </vt:vector>
  </HeadingPairs>
  <TitlesOfParts>
    <vt:vector size="11" baseType="lpstr">
      <vt:lpstr>Arial</vt:lpstr>
      <vt:lpstr>Arial Black</vt:lpstr>
      <vt:lpstr>Bahnschrift Condensed</vt:lpstr>
      <vt:lpstr>Bahnschrift SemiLight</vt:lpstr>
      <vt:lpstr>Calibri</vt:lpstr>
      <vt:lpstr>Calibri Light</vt:lpstr>
      <vt:lpstr>Candara</vt:lpstr>
      <vt:lpstr>Helvetica</vt:lpstr>
      <vt:lpstr>Helvetica Neue</vt:lpstr>
      <vt:lpstr>Myriad Pro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Наталія Матковська</dc:creator>
  <cp:lastModifiedBy>Наталія Матковська</cp:lastModifiedBy>
  <cp:revision>78</cp:revision>
  <dcterms:created xsi:type="dcterms:W3CDTF">2026-08-20T11:49:18Z</dcterms:created>
  <dcterms:modified xsi:type="dcterms:W3CDTF">2026-09-02T13:31:01Z</dcterms:modified>
</cp:coreProperties>
</file>